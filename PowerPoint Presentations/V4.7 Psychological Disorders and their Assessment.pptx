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5"/>
  </p:notesMasterIdLst>
  <p:sldIdLst>
    <p:sldId id="568" r:id="rId5"/>
    <p:sldId id="569" r:id="rId6"/>
    <p:sldId id="561" r:id="rId7"/>
    <p:sldId id="570" r:id="rId8"/>
    <p:sldId id="279" r:id="rId9"/>
    <p:sldId id="572" r:id="rId10"/>
    <p:sldId id="573" r:id="rId11"/>
    <p:sldId id="261" r:id="rId12"/>
    <p:sldId id="574" r:id="rId13"/>
    <p:sldId id="575" r:id="rId14"/>
    <p:sldId id="614" r:id="rId15"/>
    <p:sldId id="576" r:id="rId16"/>
    <p:sldId id="577" r:id="rId17"/>
    <p:sldId id="578" r:id="rId18"/>
    <p:sldId id="615" r:id="rId19"/>
    <p:sldId id="579" r:id="rId20"/>
    <p:sldId id="262" r:id="rId21"/>
    <p:sldId id="263" r:id="rId22"/>
    <p:sldId id="580" r:id="rId23"/>
    <p:sldId id="616" r:id="rId24"/>
    <p:sldId id="581" r:id="rId25"/>
    <p:sldId id="582" r:id="rId26"/>
    <p:sldId id="583" r:id="rId27"/>
    <p:sldId id="584" r:id="rId28"/>
    <p:sldId id="585" r:id="rId29"/>
    <p:sldId id="586" r:id="rId30"/>
    <p:sldId id="587" r:id="rId31"/>
    <p:sldId id="588" r:id="rId32"/>
    <p:sldId id="589" r:id="rId33"/>
    <p:sldId id="394" r:id="rId34"/>
    <p:sldId id="563" r:id="rId35"/>
    <p:sldId id="564" r:id="rId36"/>
    <p:sldId id="590" r:id="rId37"/>
    <p:sldId id="591" r:id="rId38"/>
    <p:sldId id="592" r:id="rId39"/>
    <p:sldId id="593" r:id="rId40"/>
    <p:sldId id="560" r:id="rId41"/>
    <p:sldId id="594" r:id="rId42"/>
    <p:sldId id="595" r:id="rId43"/>
    <p:sldId id="385" r:id="rId44"/>
    <p:sldId id="543" r:id="rId45"/>
    <p:sldId id="544" r:id="rId46"/>
    <p:sldId id="268" r:id="rId47"/>
    <p:sldId id="540" r:id="rId48"/>
    <p:sldId id="265" r:id="rId49"/>
    <p:sldId id="267" r:id="rId50"/>
    <p:sldId id="596" r:id="rId51"/>
    <p:sldId id="597" r:id="rId52"/>
    <p:sldId id="598" r:id="rId53"/>
    <p:sldId id="599" r:id="rId54"/>
    <p:sldId id="366" r:id="rId55"/>
    <p:sldId id="600" r:id="rId56"/>
    <p:sldId id="601" r:id="rId57"/>
    <p:sldId id="602" r:id="rId58"/>
    <p:sldId id="603" r:id="rId59"/>
    <p:sldId id="604" r:id="rId60"/>
    <p:sldId id="605" r:id="rId61"/>
    <p:sldId id="606" r:id="rId62"/>
    <p:sldId id="607" r:id="rId63"/>
    <p:sldId id="617" r:id="rId64"/>
    <p:sldId id="608" r:id="rId65"/>
    <p:sldId id="609" r:id="rId66"/>
    <p:sldId id="610" r:id="rId67"/>
    <p:sldId id="611" r:id="rId68"/>
    <p:sldId id="618" r:id="rId69"/>
    <p:sldId id="612" r:id="rId70"/>
    <p:sldId id="613" r:id="rId71"/>
    <p:sldId id="619" r:id="rId72"/>
    <p:sldId id="281" r:id="rId73"/>
    <p:sldId id="620" r:id="rId74"/>
  </p:sldIdLst>
  <p:sldSz cx="12192000" cy="6858000"/>
  <p:notesSz cx="7011988" cy="9297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568"/>
            <p14:sldId id="569"/>
            <p14:sldId id="561"/>
            <p14:sldId id="570"/>
            <p14:sldId id="279"/>
            <p14:sldId id="572"/>
            <p14:sldId id="573"/>
            <p14:sldId id="261"/>
            <p14:sldId id="574"/>
            <p14:sldId id="575"/>
            <p14:sldId id="614"/>
            <p14:sldId id="576"/>
            <p14:sldId id="577"/>
            <p14:sldId id="578"/>
            <p14:sldId id="615"/>
            <p14:sldId id="579"/>
            <p14:sldId id="262"/>
            <p14:sldId id="263"/>
            <p14:sldId id="580"/>
            <p14:sldId id="616"/>
            <p14:sldId id="581"/>
            <p14:sldId id="582"/>
            <p14:sldId id="583"/>
            <p14:sldId id="584"/>
            <p14:sldId id="585"/>
            <p14:sldId id="586"/>
            <p14:sldId id="587"/>
            <p14:sldId id="588"/>
            <p14:sldId id="589"/>
            <p14:sldId id="394"/>
            <p14:sldId id="563"/>
            <p14:sldId id="564"/>
            <p14:sldId id="590"/>
            <p14:sldId id="591"/>
            <p14:sldId id="592"/>
            <p14:sldId id="593"/>
            <p14:sldId id="560"/>
            <p14:sldId id="594"/>
            <p14:sldId id="595"/>
            <p14:sldId id="385"/>
            <p14:sldId id="543"/>
            <p14:sldId id="544"/>
            <p14:sldId id="268"/>
            <p14:sldId id="540"/>
            <p14:sldId id="265"/>
            <p14:sldId id="267"/>
            <p14:sldId id="596"/>
            <p14:sldId id="597"/>
            <p14:sldId id="598"/>
            <p14:sldId id="599"/>
            <p14:sldId id="366"/>
            <p14:sldId id="600"/>
            <p14:sldId id="601"/>
            <p14:sldId id="602"/>
            <p14:sldId id="603"/>
            <p14:sldId id="604"/>
            <p14:sldId id="605"/>
            <p14:sldId id="606"/>
            <p14:sldId id="607"/>
            <p14:sldId id="617"/>
            <p14:sldId id="608"/>
            <p14:sldId id="609"/>
            <p14:sldId id="610"/>
            <p14:sldId id="611"/>
            <p14:sldId id="618"/>
            <p14:sldId id="612"/>
            <p14:sldId id="613"/>
            <p14:sldId id="619"/>
            <p14:sldId id="281"/>
            <p14:sldId id="62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171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925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11/06/2026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80062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5163"/>
            <a:ext cx="5608638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925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Welcome; 2-day workshop format; housekeeping.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V4.7 revised for tighter pacing, stronger learning-objective alignment, lighter morning exercises, and retained exercise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861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Morning break 11:00 (20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571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Walk through aims.</a:t>
            </a:r>
          </a:p>
          <a:p>
            <a:pPr>
              <a:defRPr sz="1100">
                <a:latin typeface="Calibri"/>
              </a:defRPr>
            </a:pPr>
            <a:r>
              <a:t>- Psychosynthesis-informed assessment, not diagnosis training.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V4.7 LO alignment: egg diagram; love/will; family systems; models integration; research-informed practice; mild/moderate vs severe disturbance; spiritual crisis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231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Confirm Sunday start time with group.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Revised V4.7 pacing: lighter mornings.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596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Social/contextual lens on distress.</a:t>
            </a:r>
          </a:p>
          <a:p>
            <a:r>
              <a:rPr lang="en-US"/>
              <a:t>- Lemma quote — reflexivity.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328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Behaviour understandable in life context.</a:t>
            </a:r>
          </a:p>
          <a:p>
            <a:r>
              <a:rPr lang="en-US"/>
              <a:t>- Link to PTM.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203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Merged V4.1 slides 11–12.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3725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Define psychological mindedness.</a:t>
            </a:r>
          </a:p>
          <a:p>
            <a:r>
              <a:rPr lang="en-US"/>
              <a:t>- Bridge to disidentification —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9981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Psychosynthesis insert.</a:t>
            </a:r>
          </a:p>
          <a:p>
            <a:r>
              <a:rPr lang="en-US"/>
              <a:t>- Example: 'I notice anger' vs 'I am furious'.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72784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Do not romanticise 'I'.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149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Primal wounding, splitting, survival personality; developmental/purposive lens.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Prompts, not a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871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Link to defences this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7898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Can this person use what we offer 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2980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Love/will and psychopathology — clinically grounded.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Condensed V4.1 slides 18–20.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70331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Indicators not gatekeeping.</a:t>
            </a:r>
          </a:p>
          <a:p>
            <a:pPr>
              <a:defRPr sz="1100">
                <a:latin typeface="Calibri"/>
              </a:defRPr>
            </a:pPr>
            <a:r>
              <a:t>- Referral and supervision cues.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Pair discussion (retained): suitability factors and exclusion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0936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Higher concern — not automatic exclusion.</a:t>
            </a:r>
          </a:p>
          <a:p>
            <a:r>
              <a:rPr lang="en-US"/>
              <a:t>- Trainees refer and supervise.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180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Merged slides 23–26.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56990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Group dynamics and systemic disturbance in first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Recovered from V4.2; repositioned Day 1 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3287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Contrast with CORE-10.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9423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Show sample form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37954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Recovered from V4.2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0346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Brief NHS-context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92603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Day 1 AM exercise — 20 minutes.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Day 1 AM — brief exercise only.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Full original instructions:</a:t>
            </a:r>
          </a:p>
          <a:p>
            <a:pPr>
              <a:defRPr sz="1100">
                <a:latin typeface="Calibri"/>
              </a:defRPr>
            </a:pPr>
            <a:r>
              <a:t>Title: Purpose and scope of initial assessment</a:t>
            </a:r>
          </a:p>
          <a:p>
            <a:pPr>
              <a:defRPr sz="1100">
                <a:latin typeface="Calibri"/>
              </a:defRPr>
            </a:pPr>
            <a:r>
              <a:t>Aim: Clarify what an initial assessment is for and what it should include.</a:t>
            </a:r>
          </a:p>
          <a:p>
            <a:pPr>
              <a:defRPr sz="1100">
                <a:latin typeface="Calibri"/>
              </a:defRPr>
            </a:pPr>
            <a:r>
              <a:t>Original time: 20 minutes</a:t>
            </a:r>
          </a:p>
          <a:p>
            <a:pPr>
              <a:defRPr sz="1100">
                <a:latin typeface="Calibri"/>
              </a:defRPr>
            </a:pPr>
            <a:r>
              <a:t>Pairs: 15 min discussion + 5 min share-back</a:t>
            </a:r>
          </a:p>
          <a:p>
            <a:pPr>
              <a:defRPr sz="1100">
                <a:latin typeface="Calibri"/>
              </a:defRPr>
            </a:pPr>
            <a:r>
              <a:t>Q1: Purpose of initial assessment?</a:t>
            </a:r>
          </a:p>
          <a:p>
            <a:pPr>
              <a:defRPr sz="1100">
                <a:latin typeface="Calibri"/>
              </a:defRPr>
            </a:pPr>
            <a:r>
              <a:t>Q2: What should it include?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56949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Exercise 2 — 25–30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2788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Merged slides 31–35 and 141–143.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54489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Removed website screenshot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7740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Opening questions on defences.</a:t>
            </a:r>
          </a:p>
          <a:p>
            <a:pPr>
              <a:defRPr sz="1100">
                <a:latin typeface="Calibri"/>
              </a:defRPr>
            </a:pPr>
            <a:r>
              <a:t>- Normalise before pathologising.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Brief definition: unconscious strategies to manage anxiety and threat.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3745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Summarise mechanisms 1–5 with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5320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Summarise 6–10; note spiritual bypassing.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9229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Recovered from V4.2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96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Psychosynthesis: which part presents? observed vs fused?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1640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Topics doc insert after MSE.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9005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Day 1 PM exercise — 40 minutes.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Day 1 PM — medium exercise.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Full original instructions:</a:t>
            </a:r>
          </a:p>
          <a:p>
            <a:pPr>
              <a:defRPr sz="1100">
                <a:latin typeface="Calibri"/>
              </a:defRPr>
            </a:pPr>
            <a:r>
              <a:t>Title: Client suitability — case 'Rahul'</a:t>
            </a:r>
          </a:p>
          <a:p>
            <a:pPr>
              <a:defRPr sz="1100">
                <a:latin typeface="Calibri"/>
              </a:defRPr>
            </a:pPr>
            <a:r>
              <a:t>Aim: Apply suitability criteria and psychosynthesis lens to a complex referral.</a:t>
            </a:r>
          </a:p>
          <a:p>
            <a:pPr>
              <a:defRPr sz="1100">
                <a:latin typeface="Calibri"/>
              </a:defRPr>
            </a:pPr>
            <a:r>
              <a:t>Original time: 40 minutes</a:t>
            </a:r>
          </a:p>
          <a:p>
            <a:pPr>
              <a:defRPr sz="1100">
                <a:latin typeface="Calibri"/>
              </a:defRPr>
            </a:pPr>
            <a:r>
              <a:t>Three groups with case handout</a:t>
            </a:r>
          </a:p>
          <a:p>
            <a:pPr>
              <a:defRPr sz="1100">
                <a:latin typeface="Calibri"/>
              </a:defRPr>
            </a:pPr>
            <a:r>
              <a:t>Assess suitability; identify risks/referral needs</a:t>
            </a:r>
          </a:p>
          <a:p>
            <a:pPr>
              <a:defRPr sz="1100">
                <a:latin typeface="Calibri"/>
              </a:defRPr>
            </a:pPr>
            <a:r>
              <a:t>2-minute rationale: work now, wait, or refer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3493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Welcome Day 2; recap Day 1.</a:t>
            </a:r>
          </a:p>
          <a:p>
            <a:r>
              <a:rPr lang="en-US"/>
              <a:t>- Preview transference, risk, dissociation.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47000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Exercise 3 — 15–20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26282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Optional 3-minute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26012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- 10-minute partner brainstorm on own defences.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Full original instructions:</a:t>
            </a:r>
          </a:p>
          <a:p>
            <a:pPr>
              <a:defRPr sz="1100">
                <a:latin typeface="Calibri"/>
              </a:defRPr>
            </a:pPr>
            <a:r>
              <a:t>Question: What are your go-to defense mechanisms?</a:t>
            </a:r>
          </a:p>
          <a:p>
            <a:pPr>
              <a:defRPr sz="1100">
                <a:latin typeface="Calibri"/>
              </a:defRPr>
            </a:pPr>
            <a:r>
              <a:t>Original exercise: 10 min w partner</a:t>
            </a:r>
          </a:p>
          <a:p>
            <a:pPr>
              <a:defRPr sz="1100">
                <a:latin typeface="Calibri"/>
              </a:defRPr>
            </a:pPr>
            <a:r>
              <a:t>10-minute partner brainstorm on own defences.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05349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Define transference with examples.</a:t>
            </a:r>
          </a:p>
          <a:p>
            <a:r>
              <a:rPr lang="en-US"/>
              <a:t>- Idealisation, mistrust, parental feelings.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565737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Countertransference; supervision and self-care.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330067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Simplify transferential field for year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14160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One dissociation example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76115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Risk assessment — BACP ethics.</a:t>
            </a:r>
          </a:p>
          <a:p>
            <a:r>
              <a:rPr lang="en-US"/>
              <a:t>- Consult, refer,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8924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Model calm, direct risk enquiry.</a:t>
            </a:r>
          </a:p>
          <a:p>
            <a:r>
              <a:rPr lang="en-US"/>
              <a:t>- Walk through useful opening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922341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Merged slides 73–74.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30643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Not universal frontline NHS tool for all counsellors.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01183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Day 2 AM exercise — 45 minutes.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Day 2 AM — brief-to-medium exercise.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Full original instructions:</a:t>
            </a:r>
          </a:p>
          <a:p>
            <a:pPr>
              <a:defRPr sz="1100">
                <a:latin typeface="Calibri"/>
              </a:defRPr>
            </a:pPr>
            <a:r>
              <a:t>Title: Transference, countertransference, and risk</a:t>
            </a:r>
          </a:p>
          <a:p>
            <a:pPr>
              <a:defRPr sz="1100">
                <a:latin typeface="Calibri"/>
              </a:defRPr>
            </a:pPr>
            <a:r>
              <a:t>Aim: Practise reading relational dynamics and risk in simulated assessment.</a:t>
            </a:r>
          </a:p>
          <a:p>
            <a:pPr>
              <a:defRPr sz="1100">
                <a:latin typeface="Calibri"/>
              </a:defRPr>
            </a:pPr>
            <a:r>
              <a:t>Original time: 45 minutes</a:t>
            </a:r>
          </a:p>
          <a:p>
            <a:pPr>
              <a:defRPr sz="1100">
                <a:latin typeface="Calibri"/>
              </a:defRPr>
            </a:pPr>
            <a:r>
              <a:t>Five scenarios in groups</a:t>
            </a:r>
          </a:p>
          <a:p>
            <a:pPr>
              <a:defRPr sz="1100">
                <a:latin typeface="Calibri"/>
              </a:defRPr>
            </a:pPr>
            <a:r>
              <a:t>Pairs: identify transference, countertransference, risk</a:t>
            </a:r>
          </a:p>
          <a:p>
            <a:pPr>
              <a:defRPr sz="1100">
                <a:latin typeface="Calibri"/>
              </a:defRPr>
            </a:pPr>
            <a:r>
              <a:t>5-minute debrief per scenario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5016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Exercise 4 — 35–45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659207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Mild–moderate continuum.</a:t>
            </a:r>
          </a:p>
          <a:p>
            <a:pPr>
              <a:defRPr sz="1100">
                <a:latin typeface="Calibri"/>
              </a:defRPr>
            </a:pPr>
            <a:r>
              <a:t>- Assess severity and fit for counselling.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Optional opening (retained): hopes and fears about neurosis, psychosis, spiritual emergencies, and mental illness.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2214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Merged slide 84 + spiritual emergency insert.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817940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Psychosynthesis insert.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82336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Condensed subtype lists and DBT staging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76575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Ellen case in Exercise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9487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Condensed slide 105.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36056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Merged slides 108–110.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800559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Merged 112–113; DSM contents removed.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Discussion prompt (retained): pros and cons of mental health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16224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Condensed ED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841720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Bridges assessment to ongoing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From slides 59/68 themes.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52940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Use in Exercise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98576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Summary before final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27388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Merged slides 142–145.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71614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How psychosynthesis differs from and integrates other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Day 2 PM exercise — 60 minutes.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Day 2 PM — substantial integrative exercise.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Full original instructions:</a:t>
            </a:r>
          </a:p>
          <a:p>
            <a:pPr>
              <a:defRPr sz="1100">
                <a:latin typeface="Calibri"/>
              </a:defRPr>
            </a:pPr>
            <a:r>
              <a:t>Title: Integrated case formulation workshop</a:t>
            </a:r>
          </a:p>
          <a:p>
            <a:pPr>
              <a:defRPr sz="1100">
                <a:latin typeface="Calibri"/>
              </a:defRPr>
            </a:pPr>
            <a:r>
              <a:t>Aim: Produce a psychosynthesis-informed formulation and assessment plan.</a:t>
            </a:r>
          </a:p>
          <a:p>
            <a:pPr>
              <a:defRPr sz="1100">
                <a:latin typeface="Calibri"/>
              </a:defRPr>
            </a:pPr>
            <a:r>
              <a:t>Original time: 60 minutes</a:t>
            </a:r>
          </a:p>
          <a:p>
            <a:pPr>
              <a:defRPr sz="1100">
                <a:latin typeface="Calibri"/>
              </a:defRPr>
            </a:pPr>
            <a:r>
              <a:t>Groups: Ellen (BPD) or Kim (eating disorder)</a:t>
            </a:r>
          </a:p>
          <a:p>
            <a:pPr>
              <a:defRPr sz="1100">
                <a:latin typeface="Calibri"/>
              </a:defRPr>
            </a:pPr>
            <a:r>
              <a:t>Use formulation map; include risk and CORE/PHQ</a:t>
            </a:r>
          </a:p>
          <a:p>
            <a:pPr>
              <a:defRPr sz="1100">
                <a:latin typeface="Calibri"/>
              </a:defRPr>
            </a:pPr>
            <a:r>
              <a:t>5-minute group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32029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Bridge to reading list.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V4.7 revised for tighter pacing, stronger learning-objective alignment, lighter morning exercises, and retained exercise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71943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Brief intro to research-informed assessment for counselling trainees.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Priority readings.</a:t>
            </a:r>
          </a:p>
          <a:p>
            <a:pPr>
              <a:defRPr sz="1100">
                <a:latin typeface="Calibri"/>
              </a:defRPr>
            </a:pPr>
            <a:r>
              <a:t>- Thank participants; evaluation if used.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V4.7 revised for tighter pacing, stronger learning-objective alignment, lighter morning exercises, and retained exercise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14167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Title: Purpose and scope of initial assessment</a:t>
            </a:r>
            <a:br/>
            <a:r>
              <a:t>Aim: Clarify what an initial assessment is for and what it should include.</a:t>
            </a:r>
            <a:br/>
            <a:r>
              <a:t>Original time: 20 minutes</a:t>
            </a:r>
            <a:br/>
            <a:r>
              <a:t>Pairs: 15 min discussion + 5 min share-back</a:t>
            </a:r>
            <a:br/>
            <a:r>
              <a:t>Q1: Purpose of initial assessment?</a:t>
            </a:r>
            <a:br/>
            <a:r>
              <a:t>Q2: What should it include?</a:t>
            </a:r>
            <a:br/>
            <a:br/>
            <a:r>
              <a:t>Title: Client suitability — case 'Rahul'</a:t>
            </a:r>
            <a:br/>
            <a:r>
              <a:t>Aim: Apply suitability criteria and psychosynthesis lens to a complex referral.</a:t>
            </a:r>
            <a:br/>
            <a:r>
              <a:t>Original time: 40 minutes</a:t>
            </a:r>
            <a:br/>
            <a:r>
              <a:t>Three groups with case handout</a:t>
            </a:r>
            <a:br/>
            <a:r>
              <a:t>Assess suitability; identify risks/referral needs</a:t>
            </a:r>
            <a:br/>
            <a:r>
              <a:t>2-minute rationale: work now, wait, or refer</a:t>
            </a:r>
            <a:br/>
            <a:br/>
            <a:r>
              <a:t>Question: What are your go-to defense mechanisms?</a:t>
            </a:r>
            <a:br/>
            <a:r>
              <a:t>Original exercise: 10 min w partner</a:t>
            </a:r>
            <a:br/>
            <a:r>
              <a:t>10-minute partner brainstorm on own defences.</a:t>
            </a:r>
            <a:br/>
            <a:br/>
            <a:r>
              <a:t>Title: Transference, countertransference, and risk</a:t>
            </a:r>
            <a:br/>
            <a:r>
              <a:t>Aim: Practise reading relational dynamics and risk in simulated assessment.</a:t>
            </a:r>
            <a:br/>
            <a:r>
              <a:t>Original time: 45 minutes</a:t>
            </a:r>
            <a:br/>
            <a:r>
              <a:t>Five scenarios in groups</a:t>
            </a:r>
            <a:br/>
            <a:r>
              <a:t>Pairs: identify transference, countertransference, risk</a:t>
            </a:r>
            <a:br/>
            <a:r>
              <a:t>5-minute debrief per scenario</a:t>
            </a:r>
            <a:br/>
            <a:br/>
            <a:r>
              <a:t>Title: Integrated case formulation workshop</a:t>
            </a:r>
            <a:br/>
            <a:r>
              <a:t>Aim: Produce a psychosynthesis-informed formulation and assessment plan.</a:t>
            </a:r>
            <a:br/>
            <a:r>
              <a:t>Original time: 60 minutes</a:t>
            </a:r>
            <a:br/>
            <a:r>
              <a:t>Groups: Ellen (BPD) or Kim (eating disorder)</a:t>
            </a:r>
            <a:br/>
            <a:r>
              <a:t>Use formulation map; include risk and CORE/PHQ</a:t>
            </a:r>
            <a:br/>
            <a:r>
              <a:t>5-minute group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.uk/Straight-Talking-Introduction-Meaning-Framework/dp/1910919713/ref=sr_1_1?crid=3QHAVONB0J32Q&amp;dib=eyJ2IjoiMSJ9.R8ZnW07XaO7FayLEQsbVO7z_gkGqjVdB-ewWEA1Bc1S037anh_AJ_4_kMjpWbjC6pM7DNixVDmxI-27zF5qRc7naUWtAhqAD_UFo8uvlnzI.R0qOLOf60UxbCAy7t2eYMDWcWipgunpVo-mQXdHH47o&amp;dib_tag=se&amp;keywords=power+threat+meaning+framework&amp;qid=1717824912&amp;sprefix=power+threat+m%2Caps%2C66&amp;sr=8-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.uk/dp/0805860827/_encoding=UTF8?coliid=I3J9BHX6VI6QNX&amp;colid=1L4VU29V3LQWJ&amp;psc=0" TargetMode="Externa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pPr lvl="0"/>
            <a:r>
              <a:rPr lang="en-GB" sz="2800" b="1" dirty="0">
                <a:solidFill>
                  <a:schemeClr val="tx2"/>
                </a:solidFill>
              </a:rPr>
              <a:t>Psychological Disorders and their Assessment</a:t>
            </a:r>
            <a:endParaRPr lang="en-GB" sz="2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r>
              <a:t>June 2026 — Weekend Workshop</a:t>
            </a: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039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7B6B8-2444-4178-EF3B-133613B7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Day 1 — Saturday Morning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D4F89-DA8E-8D41-7365-B64D2A2E1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10:00–13:00 | Foundations of assessment</a:t>
            </a:r>
          </a:p>
        </p:txBody>
      </p:sp>
    </p:spTree>
    <p:extLst>
      <p:ext uri="{BB962C8B-B14F-4D97-AF65-F5344CB8AC3E}">
        <p14:creationId xmlns:p14="http://schemas.microsoft.com/office/powerpoint/2010/main" val="941147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5989-7B2D-4A34-A5A0-07A23F5071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197" y="96662"/>
            <a:ext cx="10515600" cy="1325563"/>
          </a:xfrm>
        </p:spPr>
        <p:txBody>
          <a:bodyPr/>
          <a:lstStyle/>
          <a:p>
            <a:pPr lvl="0"/>
            <a:r>
              <a:rPr lang="en-GB">
                <a:solidFill>
                  <a:srgbClr val="1E9399"/>
                </a:solidFill>
              </a:rPr>
              <a:t>Learning aims</a:t>
            </a:r>
            <a:endParaRPr lang="en-GB" dirty="0">
              <a:solidFill>
                <a:srgbClr val="1E939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FC544-6CDB-46EE-9E1F-D177EA3E4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8044" y="363912"/>
            <a:ext cx="2387635" cy="6480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070D8C-FB11-DDB4-8B68-25DA6595DA01}"/>
              </a:ext>
            </a:extLst>
          </p:cNvPr>
          <p:cNvSpPr txBox="1"/>
          <p:nvPr/>
        </p:nvSpPr>
        <p:spPr>
          <a:xfrm>
            <a:off x="357508" y="1344871"/>
            <a:ext cx="1025912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Assess client suitability for psychosynthesis counselling.</a:t>
            </a:r>
            <a:br>
              <a:rPr lang="en-GB" sz="28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GB" sz="28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>
                <a:latin typeface="Arial Narrow" panose="020B0604020202020204" pitchFamily="34" charset="0"/>
                <a:ea typeface="Times New Roman" panose="02020603050405020304" pitchFamily="18" charset="0"/>
                <a:cs typeface="Arial Narrow" panose="020B0604020202020204" pitchFamily="34" charset="0"/>
              </a:rPr>
              <a:t> undertake a competent initial assessment </a:t>
            </a:r>
            <a:br>
              <a:rPr lang="en-GB" sz="2800" b="1" dirty="0">
                <a:latin typeface="Arial Narrow" panose="020B0604020202020204" pitchFamily="34" charset="0"/>
                <a:ea typeface="Times New Roman" panose="02020603050405020304" pitchFamily="18" charset="0"/>
                <a:cs typeface="Arial Narrow" panose="020B0604020202020204" pitchFamily="34" charset="0"/>
              </a:rPr>
            </a:br>
            <a:endParaRPr lang="en-GB" sz="2800" b="1" dirty="0">
              <a:latin typeface="Arial Narrow" panose="020B0604020202020204" pitchFamily="34" charset="0"/>
              <a:ea typeface="Times New Roman" panose="02020603050405020304" pitchFamily="18" charset="0"/>
              <a:cs typeface="Arial Narrow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>
                <a:latin typeface="Arial Narrow" panose="020B0604020202020204" pitchFamily="34" charset="0"/>
                <a:ea typeface="Times New Roman" panose="02020603050405020304" pitchFamily="18" charset="0"/>
                <a:cs typeface="Arial Narrow" panose="020B0604020202020204" pitchFamily="34" charset="0"/>
              </a:rPr>
              <a:t>recognising factors that would contra-indicate client suitability.</a:t>
            </a:r>
            <a:br>
              <a:rPr lang="en-GB" sz="2800" b="1" dirty="0">
                <a:latin typeface="Arial Narrow" panose="020B0604020202020204" pitchFamily="34" charset="0"/>
                <a:ea typeface="Times New Roman" panose="02020603050405020304" pitchFamily="18" charset="0"/>
                <a:cs typeface="Arial Narrow" panose="020B0604020202020204" pitchFamily="34" charset="0"/>
              </a:rPr>
            </a:br>
            <a:br>
              <a:rPr lang="en-GB" sz="2800" b="1" dirty="0">
                <a:latin typeface="Arial Narrow" panose="020B0604020202020204" pitchFamily="34" charset="0"/>
                <a:ea typeface="Times New Roman" panose="02020603050405020304" pitchFamily="18" charset="0"/>
                <a:cs typeface="Arial Narrow" panose="020B0604020202020204" pitchFamily="34" charset="0"/>
              </a:rPr>
            </a:br>
            <a:endParaRPr lang="en-GB" sz="2800" b="1" dirty="0">
              <a:latin typeface="Arial Narrow" panose="020B0604020202020204" pitchFamily="34" charset="0"/>
              <a:ea typeface="Times New Roman" panose="02020603050405020304" pitchFamily="18" charset="0"/>
              <a:cs typeface="Arial Narrow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Understand the difference between on-line assessment and person to person assessment.</a:t>
            </a:r>
            <a:br>
              <a:rPr lang="en-GB" sz="28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GB" sz="28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 Understand the Power – Threat – Meaning Framework.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BD398F-3323-AB66-3993-67496E75E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540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8FB74-0D7B-3226-F888-1E682D060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Workshop schedule — 2 days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2DC0B-64C5-37EC-B37F-3D19F6292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Day 1 Sat 10:00–17:00: foundations, suitability, defences, MSE</a:t>
            </a:r>
          </a:p>
          <a:p>
            <a:r>
              <a:rPr lang="en-US"/>
              <a:t>Breaks: 11:00 (20m) | Lunch 13:00–14:00 | 15:30 (20m)</a:t>
            </a:r>
          </a:p>
          <a:p>
            <a:r>
              <a:rPr lang="en-US"/>
              <a:t>Day 2 Sun 10:00–17:00: transference, risk, psychopathology, formulation</a:t>
            </a:r>
          </a:p>
          <a:p>
            <a:r>
              <a:t>Four sessions; one exercise per session (10–15 / 25–30 / 15–20 / 35–45 min)</a:t>
            </a:r>
          </a:p>
        </p:txBody>
      </p:sp>
    </p:spTree>
    <p:extLst>
      <p:ext uri="{BB962C8B-B14F-4D97-AF65-F5344CB8AC3E}">
        <p14:creationId xmlns:p14="http://schemas.microsoft.com/office/powerpoint/2010/main" val="2340592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20464-860F-4AEC-B2F9-0E12289E8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59" y="18255"/>
            <a:ext cx="10894017" cy="1325563"/>
          </a:xfrm>
        </p:spPr>
        <p:txBody>
          <a:bodyPr/>
          <a:lstStyle/>
          <a:p>
            <a:r>
              <a:rPr lang="en-GB" b="1" dirty="0">
                <a:solidFill>
                  <a:schemeClr val="accent6"/>
                </a:solidFill>
              </a:rPr>
              <a:t>Assessing the individual, ourselves and society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6AFEE-9AE7-4D22-99F6-4FD977ACD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783" y="1518834"/>
            <a:ext cx="10894017" cy="4658129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“How a particular society defines deviance, which may be couched in terms of mental illness, depends on how wide a range of </a:t>
            </a:r>
            <a:r>
              <a:rPr lang="en-US" sz="2800" dirty="0" err="1"/>
              <a:t>behaviour</a:t>
            </a:r>
            <a:r>
              <a:rPr lang="en-US" sz="2800" dirty="0"/>
              <a:t> that society allows to be acceptable…</a:t>
            </a:r>
            <a:br>
              <a:rPr lang="en-US" sz="2800" dirty="0"/>
            </a:br>
            <a:r>
              <a:rPr lang="en-US" sz="2800" dirty="0"/>
              <a:t>How a society explains deviance from the so-called norm will, in turn, depend on its own prevailing beliefs.”</a:t>
            </a:r>
            <a:r>
              <a:rPr lang="en-GB" dirty="0"/>
              <a:t>	</a:t>
            </a:r>
            <a:r>
              <a:rPr lang="en-GB" sz="2000" dirty="0">
                <a:latin typeface="Century Gothic" panose="020B0502020202020204" pitchFamily="34" charset="0"/>
              </a:rPr>
              <a:t>Alessandra Lemma (2009)</a:t>
            </a:r>
            <a:r>
              <a:rPr lang="en-GB" dirty="0"/>
              <a:t>	</a:t>
            </a:r>
            <a:br>
              <a:rPr lang="en-GB" dirty="0"/>
            </a:br>
            <a:endParaRPr lang="en-GB" dirty="0"/>
          </a:p>
          <a:p>
            <a:r>
              <a:rPr lang="en-GB" dirty="0"/>
              <a:t>Reflective awareness involves how our own cultural, personal and theoretical constructs and assumptions can affect assessment.</a:t>
            </a:r>
            <a:r>
              <a:rPr lang="en-GB" sz="2800" dirty="0"/>
              <a:t> We need to consider how the intersectional aspects of our lived experience  interface with the client’s intersectionality and affect our capacity to form a therapeutic alliance. Therefore, reflective awareness in counselling assessment means we need to apply self-assessment. 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			                   </a:t>
            </a:r>
            <a:r>
              <a:rPr lang="en-GB" sz="2000" dirty="0">
                <a:latin typeface="Century Gothic" panose="020B0502020202020204" pitchFamily="34" charset="0"/>
              </a:rPr>
              <a:t>			                   </a:t>
            </a:r>
            <a:endParaRPr lang="en-GB" sz="2000" i="1" dirty="0">
              <a:latin typeface="Century Gothic" panose="020B0502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8275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Straight Talking Introduction to the Power Threat Meaning Framework: An  alternative to Psychiatric diagnosis 9781910919712">
            <a:hlinkClick r:id="rId3"/>
            <a:extLst>
              <a:ext uri="{FF2B5EF4-FFF2-40B4-BE49-F238E27FC236}">
                <a16:creationId xmlns:a16="http://schemas.microsoft.com/office/drawing/2014/main" id="{D2F362CB-06A9-B7C6-A735-99D93E479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738" y="174376"/>
            <a:ext cx="3724275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950F06-EEFA-245F-DB0C-54B96E19582E}"/>
              </a:ext>
            </a:extLst>
          </p:cNvPr>
          <p:cNvSpPr txBox="1"/>
          <p:nvPr/>
        </p:nvSpPr>
        <p:spPr>
          <a:xfrm>
            <a:off x="5049520" y="1076960"/>
            <a:ext cx="68478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 </a:t>
            </a:r>
            <a:r>
              <a:rPr lang="en-US" sz="3200" b="1" dirty="0"/>
              <a:t>Many forms of troubling </a:t>
            </a:r>
            <a:r>
              <a:rPr lang="en-US" sz="3200" b="1" dirty="0" err="1"/>
              <a:t>behaviour</a:t>
            </a:r>
            <a:r>
              <a:rPr lang="en-US" sz="3200" b="1" dirty="0"/>
              <a:t> are understandable when viewed in the context of a person's life.</a:t>
            </a:r>
            <a:br>
              <a:rPr lang="en-US" sz="3200" b="1" dirty="0"/>
            </a:br>
            <a:endParaRPr lang="en-US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/>
              <a:t>Also, the cultural and social norms we are expected to live up to and the degree to which we are exposed to trauma, abuse, injustice and inequality. 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843382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3C2E-DC22-2C46-0309-55297900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Power–Threat–Meaning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031DC-5406-30ED-2091-478666340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Focus on power, threat, meaning — not diagnosis alone</a:t>
            </a:r>
          </a:p>
          <a:p>
            <a:r>
              <a:rPr lang="en-US"/>
              <a:t>What happened? How did it affect you? What sense? How did you survive?</a:t>
            </a:r>
          </a:p>
          <a:p>
            <a:r>
              <a:rPr lang="en-US"/>
              <a:t>Applications: hopeful narratives; social/contextual understanding</a:t>
            </a:r>
          </a:p>
          <a:p>
            <a:r>
              <a:rPr lang="en-US"/>
              <a:t>Implications: culturally sensitive, non-medical support</a:t>
            </a:r>
          </a:p>
        </p:txBody>
      </p:sp>
    </p:spTree>
    <p:extLst>
      <p:ext uri="{BB962C8B-B14F-4D97-AF65-F5344CB8AC3E}">
        <p14:creationId xmlns:p14="http://schemas.microsoft.com/office/powerpoint/2010/main" val="1050591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C030F-A2C6-4E12-8FCC-F03531525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solidFill>
                  <a:schemeClr val="accent6"/>
                </a:solidFill>
              </a:rPr>
              <a:t>Psychological Mindedness</a:t>
            </a:r>
            <a:endParaRPr lang="en-GB" b="1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C9E11-9BDF-4502-A08A-14B85BF66A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Client </a:t>
            </a:r>
            <a:r>
              <a:rPr lang="en-GB" sz="2800" dirty="0">
                <a:solidFill>
                  <a:schemeClr val="accent1"/>
                </a:solidFill>
              </a:rPr>
              <a:t>relates</a:t>
            </a:r>
            <a:r>
              <a:rPr lang="en-GB" sz="2800" dirty="0"/>
              <a:t> to their story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Increasing </a:t>
            </a:r>
            <a:r>
              <a:rPr lang="en-GB" sz="2800" dirty="0">
                <a:solidFill>
                  <a:schemeClr val="accent1"/>
                </a:solidFill>
              </a:rPr>
              <a:t>awareness</a:t>
            </a:r>
            <a:endParaRPr lang="en-GB" sz="2800" i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Ability to </a:t>
            </a:r>
            <a:r>
              <a:rPr lang="en-GB" sz="2800" dirty="0">
                <a:solidFill>
                  <a:schemeClr val="accent1"/>
                </a:solidFill>
              </a:rPr>
              <a:t>disidentify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Capacity to </a:t>
            </a:r>
            <a:r>
              <a:rPr lang="en-GB" sz="2800" dirty="0">
                <a:solidFill>
                  <a:schemeClr val="accent1"/>
                </a:solidFill>
              </a:rPr>
              <a:t>symbolise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Ability to </a:t>
            </a:r>
            <a:r>
              <a:rPr lang="en-GB" sz="2800" dirty="0">
                <a:solidFill>
                  <a:schemeClr val="accent1"/>
                </a:solidFill>
              </a:rPr>
              <a:t>tolerate</a:t>
            </a:r>
            <a:r>
              <a:rPr lang="en-GB" sz="2800" dirty="0"/>
              <a:t> anxiety, frustration, pain, stress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Increased </a:t>
            </a:r>
            <a:r>
              <a:rPr lang="en-GB" sz="2800" dirty="0">
                <a:solidFill>
                  <a:schemeClr val="accent1"/>
                </a:solidFill>
              </a:rPr>
              <a:t>responsibility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58416-DE61-42F2-882D-A41599A24DA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At least one </a:t>
            </a:r>
            <a:r>
              <a:rPr lang="en-GB" sz="2800" dirty="0">
                <a:solidFill>
                  <a:schemeClr val="accent1"/>
                </a:solidFill>
              </a:rPr>
              <a:t>“good enough” </a:t>
            </a:r>
            <a:r>
              <a:rPr lang="en-GB" sz="2800" dirty="0"/>
              <a:t>relationship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Capacity to build a </a:t>
            </a:r>
            <a:r>
              <a:rPr lang="en-GB" sz="2800" dirty="0">
                <a:solidFill>
                  <a:schemeClr val="accent1"/>
                </a:solidFill>
              </a:rPr>
              <a:t>therapeutic alliance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 </a:t>
            </a:r>
            <a:r>
              <a:rPr lang="en-GB" sz="2800" dirty="0">
                <a:solidFill>
                  <a:schemeClr val="accent1"/>
                </a:solidFill>
              </a:rPr>
              <a:t>Relief</a:t>
            </a:r>
            <a:r>
              <a:rPr lang="en-GB" sz="2800" dirty="0">
                <a:solidFill>
                  <a:srgbClr val="7030A0"/>
                </a:solidFill>
              </a:rPr>
              <a:t> </a:t>
            </a:r>
            <a:r>
              <a:rPr lang="en-GB" sz="2800" dirty="0"/>
              <a:t>when given feedback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Acceptance of the </a:t>
            </a:r>
            <a:r>
              <a:rPr lang="en-GB" sz="2800" dirty="0">
                <a:solidFill>
                  <a:schemeClr val="accent1"/>
                </a:solidFill>
              </a:rPr>
              <a:t>unconscious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Capacity to </a:t>
            </a:r>
            <a:r>
              <a:rPr lang="en-GB" sz="2800" dirty="0">
                <a:solidFill>
                  <a:schemeClr val="accent1"/>
                </a:solidFill>
              </a:rPr>
              <a:t>self-regulate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8006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3758-3899-0B9C-32BD-8D6364B8D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Disidentification as an assessment lens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BFBA2-1C11-38DE-8635-1CB9F8F0F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Can the client observe thoughts, feelings, impulses, roles?</a:t>
            </a:r>
          </a:p>
          <a:p>
            <a:r>
              <a:rPr lang="en-US"/>
              <a:t>Or fused with experience ('I am my anxiety')?</a:t>
            </a:r>
          </a:p>
          <a:p>
            <a:r>
              <a:rPr lang="en-US"/>
              <a:t>Listen for observation vs identification</a:t>
            </a:r>
          </a:p>
          <a:p>
            <a:r>
              <a:rPr lang="en-US"/>
              <a:t>Fragile disidentification → slower, stabilising work</a:t>
            </a:r>
          </a:p>
        </p:txBody>
      </p:sp>
    </p:spTree>
    <p:extLst>
      <p:ext uri="{BB962C8B-B14F-4D97-AF65-F5344CB8AC3E}">
        <p14:creationId xmlns:p14="http://schemas.microsoft.com/office/powerpoint/2010/main" val="3757197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5055F-2E1A-8773-BA0B-87A247870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Observing self / "I"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04DD2-2F51-E10A-9318-95CCA4674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Observing centre distinct from content of experience</a:t>
            </a:r>
          </a:p>
          <a:p>
            <a:r>
              <a:rPr lang="en-US"/>
              <a:t>Strong: reflect and choose | Fragile: flooded | Inaccessible: risk/referral</a:t>
            </a:r>
          </a:p>
          <a:p>
            <a:r>
              <a:rPr lang="en-US"/>
              <a:t>Link to neurosis/psychosis continuum later</a:t>
            </a:r>
          </a:p>
        </p:txBody>
      </p:sp>
    </p:spTree>
    <p:extLst>
      <p:ext uri="{BB962C8B-B14F-4D97-AF65-F5344CB8AC3E}">
        <p14:creationId xmlns:p14="http://schemas.microsoft.com/office/powerpoint/2010/main" val="1250744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Psychosynthesis egg diagram as an assessment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7" y="911227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Use the egg diagram to </a:t>
            </a:r>
            <a:r>
              <a:rPr sz="2200" b="1" dirty="0" err="1">
                <a:latin typeface="Arial Narrow"/>
              </a:rPr>
              <a:t>hypothesise</a:t>
            </a:r>
            <a:r>
              <a:rPr sz="2200" b="1" dirty="0">
                <a:latin typeface="Arial Narrow"/>
              </a:rPr>
              <a:t> where distress is </a:t>
            </a:r>
            <a:r>
              <a:rPr sz="2200" b="1" dirty="0" err="1">
                <a:latin typeface="Arial Narrow"/>
              </a:rPr>
              <a:t>organi</a:t>
            </a:r>
            <a:r>
              <a:rPr lang="en-US" sz="2200" b="1" dirty="0" err="1">
                <a:latin typeface="Arial Narrow"/>
              </a:rPr>
              <a:t>s</a:t>
            </a:r>
            <a:r>
              <a:rPr sz="2200" b="1" dirty="0" err="1">
                <a:latin typeface="Arial Narrow"/>
              </a:rPr>
              <a:t>ed</a:t>
            </a:r>
            <a:br>
              <a:rPr sz="2200" b="1" dirty="0">
                <a:latin typeface="Arial Narrow"/>
              </a:rPr>
            </a:br>
            <a:endParaRPr sz="2200" b="1" dirty="0">
              <a:latin typeface="Arial Narrow"/>
            </a:endParaRP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Lower unconscious: trauma, fear, primitive </a:t>
            </a:r>
            <a:r>
              <a:rPr sz="2200" b="1" dirty="0" err="1">
                <a:latin typeface="Arial Narrow"/>
              </a:rPr>
              <a:t>defence</a:t>
            </a:r>
            <a:r>
              <a:rPr sz="2200" b="1" dirty="0">
                <a:latin typeface="Arial Narrow"/>
              </a:rPr>
              <a:t>, unmet need</a:t>
            </a:r>
            <a:br>
              <a:rPr sz="2200" b="1" dirty="0">
                <a:latin typeface="Arial Narrow"/>
              </a:rPr>
            </a:br>
            <a:endParaRPr sz="2200" b="1" dirty="0">
              <a:latin typeface="Arial Narrow"/>
            </a:endParaRP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Middle unconscious: current roles, adaptation, coping style</a:t>
            </a:r>
            <a:br>
              <a:rPr sz="2200" b="1" dirty="0">
                <a:latin typeface="Arial Narrow"/>
              </a:rPr>
            </a:br>
            <a:endParaRPr sz="2200" b="1" dirty="0">
              <a:latin typeface="Arial Narrow"/>
            </a:endParaRP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Higher unconscious: meaning, values, aspiration, </a:t>
            </a:r>
            <a:r>
              <a:rPr sz="2200" b="1">
                <a:latin typeface="Arial Narrow"/>
              </a:rPr>
              <a:t>emerging potential</a:t>
            </a:r>
            <a:br>
              <a:rPr sz="2200" b="1">
                <a:latin typeface="Arial Narrow"/>
              </a:rPr>
            </a:br>
            <a:endParaRPr sz="2200" b="1">
              <a:latin typeface="Arial Narrow"/>
            </a:endParaRP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Ask</a:t>
            </a:r>
            <a:r>
              <a:rPr sz="2200" b="1" dirty="0">
                <a:latin typeface="Arial Narrow"/>
              </a:rPr>
              <a:t>: what is wounded, defended, split off, and trying to emerge?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D996-0ADC-37FF-647A-846C9E1DB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Psychosynthesis assessment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4C7F-E925-EA2A-5C80-C6089F3AA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Which part feels this most strongly?</a:t>
            </a:r>
          </a:p>
          <a:p>
            <a:r>
              <a:rPr lang="en-US"/>
              <a:t>Which part copes or protects?</a:t>
            </a:r>
          </a:p>
          <a:p>
            <a:r>
              <a:rPr lang="en-US"/>
              <a:t>What can observe this?</a:t>
            </a:r>
          </a:p>
          <a:p>
            <a:r>
              <a:rPr lang="en-US"/>
              <a:t>What is trying to emerge?</a:t>
            </a:r>
          </a:p>
          <a:p>
            <a:r>
              <a:rPr lang="en-US"/>
              <a:t>What gives strength or meaning?</a:t>
            </a:r>
          </a:p>
        </p:txBody>
      </p:sp>
    </p:spTree>
    <p:extLst>
      <p:ext uri="{BB962C8B-B14F-4D97-AF65-F5344CB8AC3E}">
        <p14:creationId xmlns:p14="http://schemas.microsoft.com/office/powerpoint/2010/main" val="2363597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D3C12-E152-F777-0663-57F0F6B51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Subpersonalities in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46D07-EA78-2882-0900-504235DF5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Listen for: inner critic, compliant self, rebel, wounded child</a:t>
            </a:r>
          </a:p>
          <a:p>
            <a:r>
              <a:rPr lang="en-US"/>
              <a:t>Survival personality may dominate early sessions</a:t>
            </a:r>
          </a:p>
          <a:p>
            <a:r>
              <a:rPr lang="en-US"/>
              <a:t>Which subpersonality is speaking now?</a:t>
            </a:r>
          </a:p>
        </p:txBody>
      </p:sp>
    </p:spTree>
    <p:extLst>
      <p:ext uri="{BB962C8B-B14F-4D97-AF65-F5344CB8AC3E}">
        <p14:creationId xmlns:p14="http://schemas.microsoft.com/office/powerpoint/2010/main" val="1417106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2594B-C6A4-4DC2-C6C5-9F2AC2665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Psychosynthesis capacities for therapy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E32F3-C1D6-BEBB-3B54-B692C5089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Grounding and affect tolerance</a:t>
            </a:r>
          </a:p>
          <a:p>
            <a:r>
              <a:rPr lang="en-US"/>
              <a:t>Reflective function and symbolisation</a:t>
            </a:r>
          </a:p>
          <a:p>
            <a:r>
              <a:rPr lang="en-US"/>
              <a:t>Disidentification and willingness/agency</a:t>
            </a:r>
          </a:p>
          <a:p>
            <a:r>
              <a:rPr lang="en-US"/>
              <a:t>Support networks; emerging meaning</a:t>
            </a:r>
          </a:p>
        </p:txBody>
      </p:sp>
    </p:spTree>
    <p:extLst>
      <p:ext uri="{BB962C8B-B14F-4D97-AF65-F5344CB8AC3E}">
        <p14:creationId xmlns:p14="http://schemas.microsoft.com/office/powerpoint/2010/main" val="763158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Love and will in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Disturbance may involve blocked love, damaged trust, or distorted will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Ask how the person relates, chooses, avoids, submits, controls, or collapses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Assess agency without blaming the client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Therapy may support the recovery of relatedness, choice, and inner direction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F2237-2815-D2EA-42E9-3D023F131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study: Chen — PTM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EBD35-3708-CD95-8AE9-14FB70B31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International student; academic and family pressure</a:t>
            </a:r>
          </a:p>
          <a:p>
            <a:r>
              <a:rPr lang="en-US"/>
              <a:t>Apply PTM questions in groups (facilitator handout)</a:t>
            </a:r>
          </a:p>
          <a:p>
            <a:r>
              <a:rPr lang="en-US"/>
              <a:t>Intersectionality: culture, class, migration, age</a:t>
            </a:r>
          </a:p>
          <a:p>
            <a:r>
              <a:rPr lang="en-US"/>
              <a:t>Is Chen suitable now? What else to explore?</a:t>
            </a:r>
          </a:p>
        </p:txBody>
      </p:sp>
    </p:spTree>
    <p:extLst>
      <p:ext uri="{BB962C8B-B14F-4D97-AF65-F5344CB8AC3E}">
        <p14:creationId xmlns:p14="http://schemas.microsoft.com/office/powerpoint/2010/main" val="1114006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A8DDC-2B38-492F-839E-26F4561B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400" b="1">
                <a:solidFill>
                  <a:schemeClr val="accent6"/>
                </a:solidFill>
              </a:rPr>
              <a:t>Indicators of client suitability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C9520-2845-4E4C-900A-DDA19297FC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/>
              <a:t>Some insight and curiosity about inner life</a:t>
            </a:r>
          </a:p>
          <a:p>
            <a:pPr>
              <a:lnSpc>
                <a:spcPct val="150000"/>
              </a:lnSpc>
            </a:pPr>
            <a:r>
              <a:rPr lang="en-US"/>
              <a:t>Capacity for at least one 'good enough' relationship</a:t>
            </a:r>
          </a:p>
          <a:p>
            <a:pPr>
              <a:lnSpc>
                <a:spcPct val="150000"/>
              </a:lnSpc>
            </a:pPr>
            <a:r>
              <a:rPr lang="en-US"/>
              <a:t>Willingness to engage; realistic expectations</a:t>
            </a:r>
          </a:p>
          <a:p>
            <a:pPr>
              <a:lnSpc>
                <a:spcPct val="150000"/>
              </a:lnSpc>
            </a:pPr>
            <a:r>
              <a:rPr lang="en-US"/>
              <a:t>Support network where relevant</a:t>
            </a:r>
          </a:p>
          <a:p>
            <a:pPr>
              <a:lnSpc>
                <a:spcPct val="150000"/>
              </a:lnSpc>
            </a:pPr>
            <a:r>
              <a:rPr lang="en-US"/>
              <a:t>Psychological mindedness — not necessarily sophistication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F075F-2CE7-4E63-A221-F252D1BC1B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How has client been </a:t>
            </a:r>
            <a:r>
              <a:rPr lang="en-GB" b="1" dirty="0">
                <a:solidFill>
                  <a:schemeClr val="accent1"/>
                </a:solidFill>
              </a:rPr>
              <a:t>referred</a:t>
            </a:r>
            <a:r>
              <a:rPr lang="en-GB" b="1" dirty="0"/>
              <a:t> for therapy?</a:t>
            </a:r>
          </a:p>
          <a:p>
            <a:pPr>
              <a:lnSpc>
                <a:spcPct val="150000"/>
              </a:lnSpc>
            </a:pPr>
            <a:r>
              <a:rPr lang="en-GB" b="1" dirty="0"/>
              <a:t>Client has had the experience of </a:t>
            </a:r>
            <a:r>
              <a:rPr lang="en-GB" b="1" dirty="0">
                <a:solidFill>
                  <a:schemeClr val="accent1"/>
                </a:solidFill>
              </a:rPr>
              <a:t>at least one “good enough” relationship</a:t>
            </a:r>
          </a:p>
          <a:p>
            <a:pPr>
              <a:lnSpc>
                <a:spcPct val="150000"/>
              </a:lnSpc>
            </a:pPr>
            <a:r>
              <a:rPr lang="en-GB" b="1" dirty="0"/>
              <a:t> </a:t>
            </a:r>
            <a:r>
              <a:rPr lang="en-GB" b="1" dirty="0">
                <a:solidFill>
                  <a:schemeClr val="accent1"/>
                </a:solidFill>
              </a:rPr>
              <a:t>Support network</a:t>
            </a:r>
            <a:r>
              <a:rPr lang="en-GB" b="1" dirty="0"/>
              <a:t>: availability of, and client’s willingness / ability to use it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1"/>
                </a:solidFill>
              </a:rPr>
              <a:t>Psychological mindedness</a:t>
            </a:r>
            <a:r>
              <a:rPr lang="en-GB" b="1" dirty="0"/>
              <a:t> vs. psychological sophistication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0769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36A12-0D72-47F4-AB53-F6FFE1933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>
                <a:solidFill>
                  <a:schemeClr val="accent6"/>
                </a:solidFill>
              </a:rPr>
              <a:t>Higher concern / referral indicators</a:t>
            </a:r>
            <a:endParaRPr lang="en-GB" b="1" dirty="0">
              <a:solidFill>
                <a:schemeClr val="accent6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E45AA-C0C6-4379-9E30-A56B125BD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5157787" cy="496975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4200" b="1" dirty="0"/>
              <a:t>The client:</a:t>
            </a:r>
          </a:p>
          <a:p>
            <a:pPr>
              <a:lnSpc>
                <a:spcPct val="150000"/>
              </a:lnSpc>
            </a:pPr>
            <a:r>
              <a:rPr lang="en-GB" sz="3800" dirty="0"/>
              <a:t>has been diagnosed with a </a:t>
            </a:r>
            <a:r>
              <a:rPr lang="en-GB" sz="3800" dirty="0">
                <a:solidFill>
                  <a:schemeClr val="accent1"/>
                </a:solidFill>
              </a:rPr>
              <a:t>personality disorder</a:t>
            </a:r>
          </a:p>
          <a:p>
            <a:pPr>
              <a:lnSpc>
                <a:spcPct val="150000"/>
              </a:lnSpc>
            </a:pPr>
            <a:r>
              <a:rPr lang="en-GB" sz="3800" dirty="0"/>
              <a:t>has had previous therapy with </a:t>
            </a:r>
            <a:r>
              <a:rPr lang="en-GB" sz="3800" dirty="0">
                <a:solidFill>
                  <a:schemeClr val="accent1"/>
                </a:solidFill>
              </a:rPr>
              <a:t>no </a:t>
            </a:r>
            <a:r>
              <a:rPr lang="en-GB" sz="3800" dirty="0"/>
              <a:t>improvement or perceived benefit</a:t>
            </a:r>
          </a:p>
          <a:p>
            <a:pPr>
              <a:lnSpc>
                <a:spcPct val="150000"/>
              </a:lnSpc>
            </a:pPr>
            <a:r>
              <a:rPr lang="en-GB" sz="3800" dirty="0"/>
              <a:t>presents with severe </a:t>
            </a:r>
            <a:r>
              <a:rPr lang="en-GB" sz="3800" dirty="0">
                <a:solidFill>
                  <a:schemeClr val="accent1"/>
                </a:solidFill>
              </a:rPr>
              <a:t>chemical addiction</a:t>
            </a:r>
          </a:p>
          <a:p>
            <a:pPr>
              <a:lnSpc>
                <a:spcPct val="150000"/>
              </a:lnSpc>
            </a:pPr>
            <a:r>
              <a:rPr lang="en-GB" sz="3800" dirty="0"/>
              <a:t>has made </a:t>
            </a:r>
            <a:r>
              <a:rPr lang="en-GB" sz="3800" dirty="0">
                <a:solidFill>
                  <a:schemeClr val="accent1"/>
                </a:solidFill>
              </a:rPr>
              <a:t> suicide</a:t>
            </a:r>
            <a:r>
              <a:rPr lang="en-GB" sz="3800" dirty="0"/>
              <a:t> attempts </a:t>
            </a:r>
            <a:r>
              <a:rPr lang="en-GB" sz="3800" dirty="0">
                <a:solidFill>
                  <a:schemeClr val="accent1"/>
                </a:solidFill>
              </a:rPr>
              <a:t>recently</a:t>
            </a:r>
          </a:p>
          <a:p>
            <a:pPr>
              <a:lnSpc>
                <a:spcPct val="150000"/>
              </a:lnSpc>
            </a:pPr>
            <a:r>
              <a:rPr lang="en-GB" sz="3800" dirty="0"/>
              <a:t>demonstrates </a:t>
            </a:r>
            <a:r>
              <a:rPr lang="en-GB" sz="3800" dirty="0">
                <a:solidFill>
                  <a:schemeClr val="accent1"/>
                </a:solidFill>
              </a:rPr>
              <a:t>severe acting out </a:t>
            </a:r>
            <a:r>
              <a:rPr lang="en-GB" sz="3800" dirty="0"/>
              <a:t>and </a:t>
            </a:r>
            <a:r>
              <a:rPr lang="en-GB" sz="3800" dirty="0">
                <a:solidFill>
                  <a:schemeClr val="accent1"/>
                </a:solidFill>
              </a:rPr>
              <a:t>self-destructive behaviour</a:t>
            </a:r>
          </a:p>
          <a:p>
            <a:r>
              <a:rPr lang="en-GB" sz="3800" dirty="0"/>
              <a:t>has received recent and/or repeated </a:t>
            </a:r>
            <a:r>
              <a:rPr lang="en-GB" sz="3800" dirty="0">
                <a:solidFill>
                  <a:schemeClr val="accent1"/>
                </a:solidFill>
              </a:rPr>
              <a:t>ECT</a:t>
            </a:r>
            <a:r>
              <a:rPr lang="en-GB" sz="3800" dirty="0"/>
              <a:t> treatment</a:t>
            </a:r>
          </a:p>
          <a:p>
            <a:pPr marL="0" indent="0">
              <a:buNone/>
            </a:pPr>
            <a:endParaRPr lang="en-GB" sz="3800" dirty="0"/>
          </a:p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95C7BB-4A55-4BCB-96E8-75823574E9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90688"/>
            <a:ext cx="5183188" cy="480218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1800" dirty="0"/>
              <a:t>has been recently </a:t>
            </a:r>
            <a:r>
              <a:rPr lang="en-GB" sz="1800" dirty="0">
                <a:solidFill>
                  <a:schemeClr val="accent1"/>
                </a:solidFill>
              </a:rPr>
              <a:t>hospitalised</a:t>
            </a:r>
            <a:r>
              <a:rPr lang="en-GB" sz="1800" dirty="0"/>
              <a:t> for a psychiatric disorder 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is on </a:t>
            </a:r>
            <a:r>
              <a:rPr lang="en-GB" sz="1800" dirty="0">
                <a:solidFill>
                  <a:schemeClr val="accent1"/>
                </a:solidFill>
              </a:rPr>
              <a:t>psychotropic</a:t>
            </a:r>
            <a:r>
              <a:rPr lang="en-GB" sz="1800" dirty="0"/>
              <a:t> or other medication (depending on medication)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presents with </a:t>
            </a:r>
            <a:r>
              <a:rPr lang="en-GB" sz="1800" dirty="0">
                <a:solidFill>
                  <a:schemeClr val="accent1"/>
                </a:solidFill>
              </a:rPr>
              <a:t>severe borderline </a:t>
            </a:r>
            <a:r>
              <a:rPr lang="en-GB" sz="1800" dirty="0"/>
              <a:t>(emotional instability disorder) or </a:t>
            </a:r>
            <a:r>
              <a:rPr lang="en-GB" sz="1800" dirty="0">
                <a:solidFill>
                  <a:schemeClr val="accent1"/>
                </a:solidFill>
              </a:rPr>
              <a:t>severe narcissistic traits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presents with </a:t>
            </a:r>
            <a:r>
              <a:rPr lang="en-GB" sz="1800" dirty="0">
                <a:solidFill>
                  <a:schemeClr val="accent1"/>
                </a:solidFill>
              </a:rPr>
              <a:t>psychosis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In or awaiting</a:t>
            </a:r>
            <a:r>
              <a:rPr lang="en-GB" sz="1800" dirty="0">
                <a:solidFill>
                  <a:schemeClr val="accent1"/>
                </a:solidFill>
              </a:rPr>
              <a:t> trial or court proceedings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Some severe </a:t>
            </a:r>
            <a:r>
              <a:rPr lang="en-GB" sz="1800" dirty="0">
                <a:solidFill>
                  <a:schemeClr val="accent1"/>
                </a:solidFill>
              </a:rPr>
              <a:t>eating disorders </a:t>
            </a:r>
            <a:r>
              <a:rPr lang="en-GB" sz="1800" dirty="0" err="1">
                <a:solidFill>
                  <a:schemeClr val="accent1"/>
                </a:solidFill>
              </a:rPr>
              <a:t>eg</a:t>
            </a:r>
            <a:r>
              <a:rPr lang="en-GB" sz="1800" dirty="0">
                <a:solidFill>
                  <a:schemeClr val="accent1"/>
                </a:solidFill>
              </a:rPr>
              <a:t> anorexia nervosa</a:t>
            </a: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92662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37528-6A30-52A7-2739-E0A9C247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Intersectionality in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363E8-8512-2231-0C1C-650777F11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Overlapping social categories shape experience and access</a:t>
            </a:r>
          </a:p>
          <a:p>
            <a:r>
              <a:rPr lang="en-US"/>
              <a:t>Reflect: how do your identities interface with the client's?</a:t>
            </a:r>
          </a:p>
          <a:p>
            <a:r>
              <a:rPr lang="en-US"/>
              <a:t>Discuss privileged vs oppressed axes — limits of models</a:t>
            </a:r>
          </a:p>
        </p:txBody>
      </p:sp>
    </p:spTree>
    <p:extLst>
      <p:ext uri="{BB962C8B-B14F-4D97-AF65-F5344CB8AC3E}">
        <p14:creationId xmlns:p14="http://schemas.microsoft.com/office/powerpoint/2010/main" val="1973449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Family systems and hidden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Distress may be shaped by family roles, loyalty binds, secrets, and unspoken rules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The identified client may carry conflict that belongs to a wider system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Ask what is expressed individually and what may be systemic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Psychosynthesis assessment includes both person and relational field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0D599-FCCC-187F-3B38-B056906B3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Initial screening tools — role and 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59946-17B1-8B8B-963C-29E60270F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Brief measures support screening and outcome monitoring — not diagnosis</a:t>
            </a:r>
          </a:p>
          <a:p>
            <a:r>
              <a:rPr lang="en-US"/>
              <a:t>Common in IAPT/NHS: PHQ-9, GAD-7, CORE-10, CORE-OM</a:t>
            </a:r>
          </a:p>
          <a:p>
            <a:r>
              <a:rPr lang="en-US"/>
              <a:t>Integrate with interview, history, formulation, risk, functioning</a:t>
            </a:r>
          </a:p>
        </p:txBody>
      </p:sp>
    </p:spTree>
    <p:extLst>
      <p:ext uri="{BB962C8B-B14F-4D97-AF65-F5344CB8AC3E}">
        <p14:creationId xmlns:p14="http://schemas.microsoft.com/office/powerpoint/2010/main" val="765897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1846A-79FB-35B2-14BE-98F056B67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CORE-OM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8EDEF-1322-4611-A757-703BA00A2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34-item self-report; wellbeing, symptoms, functioning, risk</a:t>
            </a:r>
          </a:p>
          <a:p>
            <a:r>
              <a:rPr lang="en-US"/>
              <a:t>Used in NHS/IAPT for outcome monitoring</a:t>
            </a:r>
          </a:p>
          <a:p>
            <a:r>
              <a:rPr lang="en-US"/>
              <a:t>Strengths: holistic, tracks change | Limits: self-report, not diagnostic</a:t>
            </a:r>
          </a:p>
        </p:txBody>
      </p:sp>
    </p:spTree>
    <p:extLst>
      <p:ext uri="{BB962C8B-B14F-4D97-AF65-F5344CB8AC3E}">
        <p14:creationId xmlns:p14="http://schemas.microsoft.com/office/powerpoint/2010/main" val="3058142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6E692-46DB-9650-5D96-F753CA5BF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CORE-10 — what it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081BA-C64B-D19B-3408-48BC7AC93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10-item distress measure derived from CORE-OM</a:t>
            </a:r>
          </a:p>
          <a:p>
            <a:r>
              <a:rPr lang="en-US"/>
              <a:t>Score bands: healthy (0–5) through severe (25+)</a:t>
            </a:r>
          </a:p>
          <a:p>
            <a:r>
              <a:rPr lang="en-US"/>
              <a:t>Widely used before/after sessions in IAPT</a:t>
            </a:r>
          </a:p>
          <a:p>
            <a:r>
              <a:rPr lang="en-US"/>
              <a:t>Screening/monitoring only — not diagnosis</a:t>
            </a:r>
          </a:p>
        </p:txBody>
      </p:sp>
    </p:spTree>
    <p:extLst>
      <p:ext uri="{BB962C8B-B14F-4D97-AF65-F5344CB8AC3E}">
        <p14:creationId xmlns:p14="http://schemas.microsoft.com/office/powerpoint/2010/main" val="399021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4DAF2-341A-28B6-38C4-CC4F01B76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PHQ-9 — depression screening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DEB2F-17EC-8307-A9BA-1E339F20A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9 items; depressive symptoms over past 2 weeks</a:t>
            </a:r>
          </a:p>
          <a:p>
            <a:r>
              <a:rPr lang="en-US"/>
              <a:t>Common in primary care and IAPT stepped care</a:t>
            </a:r>
          </a:p>
          <a:p>
            <a:r>
              <a:rPr lang="en-US"/>
              <a:t>Severity bands guide conversation — not diagnosis alone</a:t>
            </a:r>
          </a:p>
          <a:p>
            <a:r>
              <a:rPr lang="en-US"/>
              <a:t>Item 9 (suicidality): always follow up with risk assessment</a:t>
            </a:r>
          </a:p>
        </p:txBody>
      </p:sp>
    </p:spTree>
    <p:extLst>
      <p:ext uri="{BB962C8B-B14F-4D97-AF65-F5344CB8AC3E}">
        <p14:creationId xmlns:p14="http://schemas.microsoft.com/office/powerpoint/2010/main" val="2392416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BF88E-C5AC-B7EA-4CD4-8D5F5B4F7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GAD-7 — anxiety screening (brief)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44927-40F6-828A-1AD2-A90A92C4B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7-item generalized anxiety screener</a:t>
            </a:r>
          </a:p>
          <a:p>
            <a:r>
              <a:rPr lang="en-US"/>
              <a:t>Often paired with PHQ-9 in NHS settings</a:t>
            </a:r>
          </a:p>
          <a:p>
            <a:r>
              <a:rPr lang="en-US"/>
              <a:t>Screening tool — interpret with clinical judgement</a:t>
            </a:r>
          </a:p>
        </p:txBody>
      </p:sp>
    </p:spTree>
    <p:extLst>
      <p:ext uri="{BB962C8B-B14F-4D97-AF65-F5344CB8AC3E}">
        <p14:creationId xmlns:p14="http://schemas.microsoft.com/office/powerpoint/2010/main" val="1042676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76122-00BF-0C8F-F3E2-16F49570A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Session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5B1D2-74DC-EBDE-289A-21AB95A4D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Title: Purpose and scope of initial assessment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Aim: Clarify purpose and scope of initial assessment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Time: 10–15 minutes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Pairs: discuss Q1–Q2, brief share-back</a:t>
            </a:r>
          </a:p>
        </p:txBody>
      </p:sp>
    </p:spTree>
    <p:extLst>
      <p:ext uri="{BB962C8B-B14F-4D97-AF65-F5344CB8AC3E}">
        <p14:creationId xmlns:p14="http://schemas.microsoft.com/office/powerpoint/2010/main" val="19835634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6B534-E88B-B093-6EE8-54A31C963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Day 1 — Saturday Afternoon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3F566-7ED3-8E7B-7B60-F42F75E9E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14:00–17:00 | Modality, risk, defences, MSE</a:t>
            </a:r>
          </a:p>
        </p:txBody>
      </p:sp>
    </p:spTree>
    <p:extLst>
      <p:ext uri="{BB962C8B-B14F-4D97-AF65-F5344CB8AC3E}">
        <p14:creationId xmlns:p14="http://schemas.microsoft.com/office/powerpoint/2010/main" val="6646822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66C07-9A9E-64F6-E816-EB365D71C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Online vs in-person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B3FAC-86F7-F2F7-F12A-EFDDBABFB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Differences: presence, non-verbal cues, environment, technology</a:t>
            </a:r>
          </a:p>
          <a:p>
            <a:r>
              <a:rPr lang="en-US"/>
              <a:t>Online: access vs staging, privacy, connectivity</a:t>
            </a:r>
          </a:p>
          <a:p>
            <a:r>
              <a:rPr lang="en-US"/>
              <a:t>In-person: fuller observation; travel and safety</a:t>
            </a:r>
          </a:p>
          <a:p>
            <a:r>
              <a:rPr lang="en-US"/>
              <a:t>Match modality to client and context</a:t>
            </a:r>
          </a:p>
        </p:txBody>
      </p:sp>
    </p:spTree>
    <p:extLst>
      <p:ext uri="{BB962C8B-B14F-4D97-AF65-F5344CB8AC3E}">
        <p14:creationId xmlns:p14="http://schemas.microsoft.com/office/powerpoint/2010/main" val="1737542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C067E-27CA-645D-94D5-0F11A153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Assessing for suicide and self-harm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C2DE2-0EAF-45A2-8BB6-B955CAB08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Direct, compassionate risk questions when indicated</a:t>
            </a:r>
          </a:p>
          <a:p>
            <a:r>
              <a:rPr lang="en-US"/>
              <a:t>Know local pathways: GP, crisis teams, A&amp;E, Papyrus</a:t>
            </a:r>
          </a:p>
          <a:p>
            <a:r>
              <a:rPr lang="en-US"/>
              <a:t>Document risk, safety plan, and escalation</a:t>
            </a:r>
          </a:p>
        </p:txBody>
      </p:sp>
    </p:spTree>
    <p:extLst>
      <p:ext uri="{BB962C8B-B14F-4D97-AF65-F5344CB8AC3E}">
        <p14:creationId xmlns:p14="http://schemas.microsoft.com/office/powerpoint/2010/main" val="34511047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82918-C0F3-EBFA-A3E0-38851C678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EE4DB-1904-7A90-59D6-F1FC3683B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 Narrow" panose="020B0604020202020204" pitchFamily="34" charset="0"/>
                <a:cs typeface="Arial Narrow" panose="020B0604020202020204" pitchFamily="34" charset="0"/>
              </a:rPr>
              <a:t>Defense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C1F7D-660B-5DF7-3F09-C0E638DCE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QUESTIONS:</a:t>
            </a:r>
          </a:p>
          <a:p>
            <a:endParaRPr lang="en-US" sz="36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en-US" sz="36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1. What are defense mechanisms and what are they for?</a:t>
            </a:r>
            <a:br>
              <a:rPr lang="en-US" sz="36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US" sz="36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en-US" sz="36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2. Do they happen consciously or unconsciously?</a:t>
            </a:r>
          </a:p>
        </p:txBody>
      </p:sp>
    </p:spTree>
    <p:extLst>
      <p:ext uri="{BB962C8B-B14F-4D97-AF65-F5344CB8AC3E}">
        <p14:creationId xmlns:p14="http://schemas.microsoft.com/office/powerpoint/2010/main" val="425164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FE67E-20D6-0355-DDB3-04D62A8C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EA651-31CA-1BC6-7AD7-775170FD8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Arial Narrow" panose="020B0604020202020204" pitchFamily="34" charset="0"/>
                <a:cs typeface="Arial Narrow" panose="020B0604020202020204" pitchFamily="34" charset="0"/>
              </a:rPr>
              <a:t>Defence mechanisms 1–5 (summary)</a:t>
            </a:r>
            <a:endParaRPr lang="en-US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4E37B-22F0-DF81-5A10-380F082F0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Repression: The ego pushes unacceptable thoughts, feelings, or memories into the unconscious.</a:t>
            </a:r>
            <a:br>
              <a:rPr lang="en-GB" b="1" dirty="0"/>
            </a:br>
            <a:endParaRPr lang="en-GB" b="1" dirty="0"/>
          </a:p>
          <a:p>
            <a:r>
              <a:rPr lang="en-GB" b="1" dirty="0"/>
              <a:t>Regression: The ego reverts to a more infantile stage of development in response to stress.</a:t>
            </a:r>
          </a:p>
          <a:p>
            <a:r>
              <a:rPr lang="en-GB" b="1" dirty="0"/>
              <a:t>Reaction formation: The ego adopts an extreme attitude that is the opposite of the true feeling.</a:t>
            </a:r>
            <a:br>
              <a:rPr lang="en-GB" b="1" dirty="0"/>
            </a:br>
            <a:endParaRPr lang="en-GB" b="1" dirty="0"/>
          </a:p>
          <a:p>
            <a:r>
              <a:rPr lang="en-GB" b="1" dirty="0"/>
              <a:t>Projection: The ego attributes its own unacceptable thoughts, feelings, or motives to someone else.</a:t>
            </a:r>
            <a:br>
              <a:rPr lang="en-GB" b="1" dirty="0"/>
            </a:br>
            <a:endParaRPr lang="en-GB" b="1" dirty="0"/>
          </a:p>
          <a:p>
            <a:r>
              <a:rPr lang="en-GB" b="1" dirty="0"/>
              <a:t>Rationalization: The ego provides a logical explanation for </a:t>
            </a:r>
            <a:r>
              <a:rPr lang="en-GB" b="1" dirty="0" err="1"/>
              <a:t>behavior</a:t>
            </a:r>
            <a:r>
              <a:rPr lang="en-GB" b="1" dirty="0"/>
              <a:t> that is actually motivated by unconscious factors.</a:t>
            </a:r>
          </a:p>
        </p:txBody>
      </p:sp>
    </p:spTree>
    <p:extLst>
      <p:ext uri="{BB962C8B-B14F-4D97-AF65-F5344CB8AC3E}">
        <p14:creationId xmlns:p14="http://schemas.microsoft.com/office/powerpoint/2010/main" val="173442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9F7F5-40AA-5D54-AEB4-A5CAF9E1B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F9D35-7E56-DA44-B937-D6B12A341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Arial Narrow" panose="020B0604020202020204" pitchFamily="34" charset="0"/>
                <a:cs typeface="Arial Narrow" panose="020B0604020202020204" pitchFamily="34" charset="0"/>
              </a:rPr>
              <a:t>Defence mechanisms 6–10 (summary)</a:t>
            </a:r>
            <a:endParaRPr lang="en-US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F418F-2918-4496-C54A-BF6A3ACC9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Isolation: The ego separates the emotional component from a traumatic event, allowing the person to think about the event without feeling any emotion.</a:t>
            </a:r>
            <a:br>
              <a:rPr lang="en-GB" b="1" dirty="0"/>
            </a:br>
            <a:endParaRPr lang="en-GB" b="1" dirty="0"/>
          </a:p>
          <a:p>
            <a:r>
              <a:rPr lang="en-GB" b="1" dirty="0"/>
              <a:t>Sublimation: The ego redirects unacceptable impulses into socially acceptable activities.</a:t>
            </a:r>
            <a:br>
              <a:rPr lang="en-GB" b="1" dirty="0"/>
            </a:br>
            <a:endParaRPr lang="en-GB" b="1" dirty="0"/>
          </a:p>
          <a:p>
            <a:r>
              <a:rPr lang="en-GB" b="1" dirty="0"/>
              <a:t>Undoing: The ego performs an action that is the opposite of an unacceptable impulse, in an attempt to cancel out the impulse.</a:t>
            </a:r>
            <a:br>
              <a:rPr lang="en-GB" b="1" dirty="0"/>
            </a:br>
            <a:endParaRPr lang="en-GB" b="1" dirty="0"/>
          </a:p>
          <a:p>
            <a:r>
              <a:rPr lang="en-GB" b="1" dirty="0"/>
              <a:t>Somatization: The ego converts anxiety into physical symptoms.</a:t>
            </a:r>
          </a:p>
        </p:txBody>
      </p:sp>
    </p:spTree>
    <p:extLst>
      <p:ext uri="{BB962C8B-B14F-4D97-AF65-F5344CB8AC3E}">
        <p14:creationId xmlns:p14="http://schemas.microsoft.com/office/powerpoint/2010/main" val="1875815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D7616-2A7A-0C72-E880-D50F278BD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Mental status exam — nine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E31BF-3D27-5EFE-F4F9-3D71C89DF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Appearance; behaviour / psychomotor activity</a:t>
            </a:r>
          </a:p>
          <a:p>
            <a:r>
              <a:rPr lang="en-US"/>
              <a:t>Attitude; mood and affect; speech and thought</a:t>
            </a:r>
          </a:p>
          <a:p>
            <a:r>
              <a:rPr lang="en-US"/>
              <a:t>Perceptual disturbances; orientation; memory/cognition</a:t>
            </a:r>
          </a:p>
          <a:p>
            <a:r>
              <a:rPr lang="en-US"/>
              <a:t>Reliability, judgement, and insight</a:t>
            </a:r>
          </a:p>
        </p:txBody>
      </p:sp>
    </p:spTree>
    <p:extLst>
      <p:ext uri="{BB962C8B-B14F-4D97-AF65-F5344CB8AC3E}">
        <p14:creationId xmlns:p14="http://schemas.microsoft.com/office/powerpoint/2010/main" val="37142914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C1A1E-35A1-89B8-5E3A-F362CD53E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MSE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344C6-C7E1-4841-48B0-54616D4FF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Observe systematically; note present and absent</a:t>
            </a:r>
          </a:p>
          <a:p>
            <a:r>
              <a:rPr lang="en-US"/>
              <a:t>Integrate MSE with PTM and psychosynthesis listening</a:t>
            </a:r>
          </a:p>
          <a:p>
            <a:r>
              <a:rPr lang="en-US"/>
              <a:t>Pairs: list five MSE observations for a first meeting</a:t>
            </a:r>
          </a:p>
        </p:txBody>
      </p:sp>
    </p:spTree>
    <p:extLst>
      <p:ext uri="{BB962C8B-B14F-4D97-AF65-F5344CB8AC3E}">
        <p14:creationId xmlns:p14="http://schemas.microsoft.com/office/powerpoint/2010/main" val="42710421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9FB82-519B-36D0-8BF2-77B5FE931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Psychosynthesis assessment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303B9-2EA8-AB86-D74E-5BBDF8050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Hold MSE alongside psychosynthesis listening:</a:t>
            </a:r>
          </a:p>
          <a:p>
            <a:r>
              <a:rPr lang="en-US"/>
              <a:t>Subpersonalities and survival patterns</a:t>
            </a:r>
          </a:p>
          <a:p>
            <a:r>
              <a:rPr lang="en-US"/>
              <a:t>Disidentification and observing self</a:t>
            </a:r>
          </a:p>
          <a:p>
            <a:r>
              <a:rPr lang="en-US"/>
              <a:t>Will, agency, meaning; resources and emergent potential</a:t>
            </a:r>
          </a:p>
        </p:txBody>
      </p:sp>
    </p:spTree>
    <p:extLst>
      <p:ext uri="{BB962C8B-B14F-4D97-AF65-F5344CB8AC3E}">
        <p14:creationId xmlns:p14="http://schemas.microsoft.com/office/powerpoint/2010/main" val="23976468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24236-E3C3-5326-D10F-378341F23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Session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BFDC0-4C18-7E36-AA64-B647613AF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Title: Client suitability — case 'Rahul'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Aim: Apply suitability and psychosynthesis lens to a complex referral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Time: 25–30 minutes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Three groups: assess suitability, risks, referral; 2-minute rationale</a:t>
            </a:r>
          </a:p>
        </p:txBody>
      </p:sp>
    </p:spTree>
    <p:extLst>
      <p:ext uri="{BB962C8B-B14F-4D97-AF65-F5344CB8AC3E}">
        <p14:creationId xmlns:p14="http://schemas.microsoft.com/office/powerpoint/2010/main" val="37556072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pPr lvl="0"/>
            <a:r>
              <a:rPr lang="en-GB" sz="2800" b="1" dirty="0">
                <a:solidFill>
                  <a:schemeClr val="tx2"/>
                </a:solidFill>
              </a:rPr>
              <a:t>Psychological Disorders and their Assessment</a:t>
            </a:r>
            <a:endParaRPr lang="en-GB" sz="2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r>
              <a:t>June 2026 — Sunday</a:t>
            </a: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591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5C4CE-B439-0B89-AE6A-11B820074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Day 2 — Sunday Morning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8DA10-38B3-EC78-29E3-D60301AA9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10:00–13:00 | Transference, risk, dissociation</a:t>
            </a:r>
          </a:p>
        </p:txBody>
      </p:sp>
    </p:spTree>
    <p:extLst>
      <p:ext uri="{BB962C8B-B14F-4D97-AF65-F5344CB8AC3E}">
        <p14:creationId xmlns:p14="http://schemas.microsoft.com/office/powerpoint/2010/main" val="31471014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706A2-A62F-2F37-5936-302D4DB66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Opening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F3AA6-0BB4-3C34-E974-783694E10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Assessment requires humility</a:t>
            </a:r>
          </a:p>
          <a:p>
            <a:r>
              <a:rPr lang="en-US"/>
              <a:t>Coltart: anxiety and not-knowing in the assessor</a:t>
            </a:r>
          </a:p>
          <a:p>
            <a:r>
              <a:rPr lang="en-US"/>
              <a:t>Relationship as assessment instrument</a:t>
            </a:r>
          </a:p>
        </p:txBody>
      </p:sp>
    </p:spTree>
    <p:extLst>
      <p:ext uri="{BB962C8B-B14F-4D97-AF65-F5344CB8AC3E}">
        <p14:creationId xmlns:p14="http://schemas.microsoft.com/office/powerpoint/2010/main" val="31476869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12D01-F3C3-D709-8223-30A2B5F28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urved section of an athletics track in a sport stadium">
            <a:extLst>
              <a:ext uri="{FF2B5EF4-FFF2-40B4-BE49-F238E27FC236}">
                <a16:creationId xmlns:a16="http://schemas.microsoft.com/office/drawing/2014/main" id="{687D2916-0146-E22D-C40D-42C81DA9BF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753" b="397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FAA4B6-D5A4-E2E5-DFA7-6379CC6B4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6589776" cy="5001595"/>
          </a:xfrm>
          <a:prstGeom prst="ellipse">
            <a:avLst/>
          </a:prstGeom>
          <a:solidFill>
            <a:srgbClr val="FFFFFF"/>
          </a:solidFill>
          <a:ln w="174625" cmpd="thinThick">
            <a:solidFill>
              <a:srgbClr val="FFFFFF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Brief reflection (optional)</a:t>
            </a:r>
          </a:p>
        </p:txBody>
      </p:sp>
    </p:spTree>
    <p:extLst>
      <p:ext uri="{BB962C8B-B14F-4D97-AF65-F5344CB8AC3E}">
        <p14:creationId xmlns:p14="http://schemas.microsoft.com/office/powerpoint/2010/main" val="14993953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ECC04-8AE0-4C23-51F7-73DBB37C0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D310-952C-5993-344C-8FAB4931C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 transference   </a:t>
            </a:r>
            <a:br>
              <a:rPr lang="en-GB" dirty="0">
                <a:latin typeface="Arial Black" panose="020B0A04020102020204" pitchFamily="34" charset="0"/>
              </a:rPr>
            </a:br>
            <a:r>
              <a:rPr lang="en-GB" dirty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66376-AA27-0C16-CAB1-8D8F89B3C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2632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Client's perspective: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 It's the unconscious redirection of feelings and attitudes from significant figures in a client's past (like parents or caregivers) onto the therapist.</a:t>
            </a:r>
            <a:b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What it looks like: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 The client might feel intense positive emotions like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idealisation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or see the therapist as a source of strength, or they might experience negativity like anger or distrust based on past experiences.</a:t>
            </a:r>
            <a:b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Role of the therapist: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 The therapist helps the client understand and process these feelings in a healthy way, using them to gain insight into their past relationships and develop new patterns of interaction.</a:t>
            </a:r>
          </a:p>
          <a:p>
            <a:endParaRPr lang="en-GB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090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3F707-22D8-3364-D8D3-404812F8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53FC9-9C41-04BC-9D18-08D57002A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GB" dirty="0">
                <a:latin typeface="Arial Black" panose="020B0A04020102020204" pitchFamily="34" charset="0"/>
              </a:rPr>
            </a:br>
            <a:r>
              <a:rPr lang="en-GB" dirty="0">
                <a:latin typeface="Arial Black" panose="020B0A04020102020204" pitchFamily="34" charset="0"/>
              </a:rPr>
              <a:t>counter-transference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F5FE6-803B-5529-BA6E-C88E3642C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Therapist's perspective: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 It's the therapist's own unconscious feelings and experiences triggered by the client.</a:t>
            </a:r>
            <a:b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What it looks like: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 The therapist might feel empathy, warmth, or even frustration or irritation towards the client.</a:t>
            </a:r>
            <a:b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Importance of management: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 While some emotions like empathy can be helpful for building rapport, strong countertransference reactions need to be managed through self-awareness and supervision to avoid clouding judgment or impacting the therapeutic relationship negatively.</a:t>
            </a:r>
          </a:p>
          <a:p>
            <a:endParaRPr lang="en-GB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64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98ACB-86BD-9B41-09D5-36E19A141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B4A46-E194-D23C-C431-99B3BB7EE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3200">
                <a:latin typeface="Arial Black" panose="020B0A04020102020204" pitchFamily="34" charset="0"/>
              </a:rPr>
              <a:t>Transferential field — brief</a:t>
            </a:r>
            <a:endParaRPr lang="en-GB" sz="3200" dirty="0">
              <a:latin typeface="Arial Black" panose="020B0A040201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4AC76-D6F9-905F-1D78-4328382EA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03862"/>
            <a:ext cx="10615149" cy="4385801"/>
          </a:xfrm>
        </p:spPr>
        <p:txBody>
          <a:bodyPr>
            <a:normAutofit/>
          </a:bodyPr>
          <a:lstStyle/>
          <a:p>
            <a:r>
              <a:rPr lang="en-US">
                <a:latin typeface="Arial Black" panose="020B0A04020102020204" pitchFamily="34" charset="0"/>
              </a:rPr>
              <a:t>Transference: client feelings from past onto therapist</a:t>
            </a:r>
          </a:p>
          <a:p>
            <a:r>
              <a:rPr lang="en-US">
                <a:latin typeface="Arial Black" panose="020B0A04020102020204" pitchFamily="34" charset="0"/>
              </a:rPr>
              <a:t>Countertransference: therapist responses to client</a:t>
            </a:r>
          </a:p>
          <a:p>
            <a:r>
              <a:rPr lang="en-US">
                <a:latin typeface="Arial Black" panose="020B0A04020102020204" pitchFamily="34" charset="0"/>
              </a:rPr>
              <a:t>Field: unconscious interaction — use supervision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143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5DAEF-3792-78F4-29AD-52B60980C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81EAE-BA7A-E1C2-458F-FC949B8C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Arial Black" panose="020B0A04020102020204" pitchFamily="34" charset="0"/>
              </a:rPr>
              <a:t>Dissociation in the transferential field</a:t>
            </a:r>
            <a:endParaRPr lang="en-GB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46DBE-299C-FA71-FC72-4C020862A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225" y="1179871"/>
            <a:ext cx="11383765" cy="4997092"/>
          </a:xfrm>
        </p:spPr>
        <p:txBody>
          <a:bodyPr>
            <a:normAutofit/>
          </a:bodyPr>
          <a:lstStyle/>
          <a:p>
            <a:r>
              <a:rPr lang="en-US">
                <a:latin typeface="Arial Black" panose="020B0A04020102020204" pitchFamily="34" charset="0"/>
              </a:rPr>
              <a:t>Therapist ungrounded; client cannot recall a topic</a:t>
            </a:r>
          </a:p>
          <a:p>
            <a:r>
              <a:rPr lang="en-US">
                <a:latin typeface="Arial Black" panose="020B0A04020102020204" pitchFamily="34" charset="0"/>
              </a:rPr>
              <a:t>Shared avoidance — tread carefully; ground first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752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64206-E43B-4E92-9CC8-46F3C2BED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Risk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E058C-FB92-4EEC-949A-7C4824A5F8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Is the client well enough to benefit from counselling at this time or do they need a referral to mental health services?</a:t>
            </a:r>
          </a:p>
          <a:p>
            <a:r>
              <a:rPr lang="en-GB" b="1" dirty="0"/>
              <a:t>Do you need to liaise with other health professionals?</a:t>
            </a:r>
          </a:p>
          <a:p>
            <a:r>
              <a:rPr lang="en-GB" b="1" dirty="0"/>
              <a:t>How can risk be reduced?</a:t>
            </a:r>
          </a:p>
          <a:p>
            <a:r>
              <a:rPr lang="en-GB" b="1" dirty="0"/>
              <a:t>BACP –Ethical framework consider requirements to do no harm, integrity, humility, candour</a:t>
            </a:r>
          </a:p>
          <a:p>
            <a:endParaRPr lang="en-GB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CDE3C-BDF0-49BB-B0FA-D1A78669C6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Drugs</a:t>
            </a:r>
            <a:r>
              <a:rPr lang="en-GB" b="1" dirty="0"/>
              <a:t> and </a:t>
            </a:r>
            <a:r>
              <a:rPr lang="en-GB" b="1" dirty="0">
                <a:solidFill>
                  <a:schemeClr val="accent1"/>
                </a:solidFill>
              </a:rPr>
              <a:t>Alcohol</a:t>
            </a:r>
            <a:r>
              <a:rPr lang="en-GB" b="1" dirty="0"/>
              <a:t> assessment</a:t>
            </a:r>
            <a:br>
              <a:rPr lang="en-GB" b="1" dirty="0"/>
            </a:br>
            <a:endParaRPr lang="en-GB" b="1" dirty="0"/>
          </a:p>
          <a:p>
            <a:r>
              <a:rPr lang="en-GB" b="1" dirty="0">
                <a:solidFill>
                  <a:srgbClr val="0070C0"/>
                </a:solidFill>
              </a:rPr>
              <a:t>Suicidal indicators: </a:t>
            </a:r>
            <a:r>
              <a:rPr lang="en-GB" b="1" dirty="0"/>
              <a:t>ideation/recent attempts</a:t>
            </a:r>
            <a:br>
              <a:rPr lang="en-GB" b="1" dirty="0"/>
            </a:br>
            <a:endParaRPr lang="en-GB" b="1" dirty="0"/>
          </a:p>
          <a:p>
            <a:r>
              <a:rPr lang="en-GB" b="1" dirty="0">
                <a:solidFill>
                  <a:schemeClr val="accent1"/>
                </a:solidFill>
              </a:rPr>
              <a:t>Self harm</a:t>
            </a:r>
            <a:br>
              <a:rPr lang="en-GB" b="1" dirty="0">
                <a:solidFill>
                  <a:schemeClr val="accent1"/>
                </a:solidFill>
              </a:rPr>
            </a:br>
            <a:br>
              <a:rPr lang="en-GB" b="1" dirty="0">
                <a:solidFill>
                  <a:schemeClr val="accent1"/>
                </a:solidFill>
              </a:rPr>
            </a:br>
            <a:endParaRPr lang="en-GB" b="1" dirty="0">
              <a:solidFill>
                <a:schemeClr val="accent1"/>
              </a:solidFill>
            </a:endParaRPr>
          </a:p>
          <a:p>
            <a:r>
              <a:rPr lang="en-GB" b="1" dirty="0"/>
              <a:t>Recent episodes of serious acting out </a:t>
            </a:r>
            <a:r>
              <a:rPr lang="en-GB" b="1" dirty="0" err="1"/>
              <a:t>eg</a:t>
            </a:r>
            <a:r>
              <a:rPr lang="en-GB" b="1" dirty="0"/>
              <a:t> use of </a:t>
            </a:r>
            <a:r>
              <a:rPr lang="en-GB" b="1" dirty="0">
                <a:solidFill>
                  <a:schemeClr val="accent1"/>
                </a:solidFill>
              </a:rPr>
              <a:t>violence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171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02CBC-4215-4330-B1C2-54CBFBBF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32933"/>
          </a:xfrm>
        </p:spPr>
        <p:txBody>
          <a:bodyPr/>
          <a:lstStyle/>
          <a:p>
            <a:r>
              <a:rPr lang="en-GB" b="1" dirty="0"/>
              <a:t>What questions do I ask?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7C5C2-EBE4-4100-BD50-4E9B62BDA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b="1" dirty="0">
                <a:latin typeface="+mj-lt"/>
              </a:rPr>
              <a:t>Useful questions…</a:t>
            </a:r>
          </a:p>
          <a:p>
            <a:r>
              <a:rPr lang="en-GB" sz="2400" b="1" dirty="0"/>
              <a:t>What brings you here?</a:t>
            </a:r>
          </a:p>
          <a:p>
            <a:r>
              <a:rPr lang="en-GB" sz="2400" b="1" dirty="0"/>
              <a:t>Why now?</a:t>
            </a:r>
          </a:p>
          <a:p>
            <a:r>
              <a:rPr lang="en-GB" sz="2400" b="1" dirty="0"/>
              <a:t>Tell me about the relationships that support you</a:t>
            </a:r>
          </a:p>
          <a:p>
            <a:r>
              <a:rPr lang="en-GB" sz="2400" b="1" dirty="0"/>
              <a:t>What is going on for you when you talk about this experience?</a:t>
            </a:r>
          </a:p>
          <a:p>
            <a:r>
              <a:rPr lang="en-GB" sz="2400" b="1" dirty="0"/>
              <a:t>How is it to be here with me?</a:t>
            </a:r>
          </a:p>
          <a:p>
            <a:r>
              <a:rPr lang="en-GB" sz="2400" b="1" dirty="0"/>
              <a:t>What was your experience of the counselling you have had in the past? What worked and what didn’t work so well?</a:t>
            </a:r>
          </a:p>
          <a:p>
            <a:r>
              <a:rPr lang="en-GB" sz="2400" b="1" dirty="0"/>
              <a:t>Without going into a lot of detail today, can you tell me about any significant events in your past?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92A22-89EA-40FE-A358-3E4F4E90B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69156"/>
            <a:ext cx="3932237" cy="4380088"/>
          </a:xfrm>
        </p:spPr>
        <p:txBody>
          <a:bodyPr>
            <a:normAutofit fontScale="85000" lnSpcReduction="20000"/>
          </a:bodyPr>
          <a:lstStyle/>
          <a:p>
            <a:endParaRPr lang="en-GB" dirty="0"/>
          </a:p>
          <a:p>
            <a:pPr marL="342900" indent="-342900">
              <a:buAutoNum type="arabicParenR"/>
            </a:pPr>
            <a:r>
              <a:rPr lang="en-GB" sz="2400" b="1" dirty="0"/>
              <a:t>Risk assessment 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en-GB" sz="2400" b="1" dirty="0"/>
              <a:t>Support network</a:t>
            </a:r>
          </a:p>
          <a:p>
            <a:pPr marL="342900" indent="-342900">
              <a:buAutoNum type="arabicParenR"/>
            </a:pPr>
            <a:r>
              <a:rPr lang="en-GB" sz="2400" b="1" dirty="0"/>
              <a:t>Previous experience of counselling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en-GB" sz="2400" b="1" dirty="0"/>
              <a:t>Why now?</a:t>
            </a:r>
          </a:p>
          <a:p>
            <a:pPr marL="342900" indent="-342900">
              <a:buAutoNum type="arabicParenR"/>
            </a:pPr>
            <a:r>
              <a:rPr lang="en-GB" sz="2400" b="1" dirty="0"/>
              <a:t>Biographical data – relationships with family of origin as a child and now , siblings, , school experience, relationships, work, disabilities and health issues, current living arrangements</a:t>
            </a:r>
          </a:p>
          <a:p>
            <a:pPr marL="342900" indent="-342900">
              <a:buAutoNum type="arabicParenR"/>
            </a:pPr>
            <a:r>
              <a:rPr lang="en-GB" sz="2400" b="1" dirty="0"/>
              <a:t>Significant events and /or losses</a:t>
            </a:r>
          </a:p>
          <a:p>
            <a:pPr marL="342900" indent="-342900">
              <a:buAutoNum type="arabicParenR"/>
            </a:pPr>
            <a:r>
              <a:rPr lang="en-GB" sz="2400" b="1" dirty="0"/>
              <a:t>What makes their heart sing or sink?</a:t>
            </a:r>
          </a:p>
        </p:txBody>
      </p:sp>
    </p:spTree>
    <p:extLst>
      <p:ext uri="{BB962C8B-B14F-4D97-AF65-F5344CB8AC3E}">
        <p14:creationId xmlns:p14="http://schemas.microsoft.com/office/powerpoint/2010/main" val="87098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719C3-E559-D764-D84F-015189EC9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Self-harm vs suicidality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8CDC0-800C-85D8-B2BB-EB64D873B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Self-harm: often emotion regulation; may not want to die</a:t>
            </a:r>
          </a:p>
          <a:p>
            <a:r>
              <a:rPr lang="en-US"/>
              <a:t>Suicidality: intent, plan, timeframe matter</a:t>
            </a:r>
          </a:p>
          <a:p>
            <a:r>
              <a:rPr lang="en-US"/>
              <a:t>Overlap possible — assess compassionately</a:t>
            </a:r>
          </a:p>
        </p:txBody>
      </p:sp>
    </p:spTree>
    <p:extLst>
      <p:ext uri="{BB962C8B-B14F-4D97-AF65-F5344CB8AC3E}">
        <p14:creationId xmlns:p14="http://schemas.microsoft.com/office/powerpoint/2010/main" val="39764681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72969-8CB2-80CE-368A-B468D525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Dissociation — screening and specialist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A4D91-CAE1-F035-8FA9-449B4E48D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Consider when: trauma history, memory gaps, depersonalisation</a:t>
            </a:r>
          </a:p>
          <a:p>
            <a:r>
              <a:rPr lang="en-US"/>
              <a:t>DES-II: dissociative experience screening</a:t>
            </a:r>
          </a:p>
          <a:p>
            <a:r>
              <a:rPr lang="en-US"/>
              <a:t>SDQ-20: somatoform dissociation (specialist/research)</a:t>
            </a:r>
          </a:p>
          <a:p>
            <a:r>
              <a:rPr lang="en-US"/>
              <a:t>DDIS, SCID-D: specialist structured assessment</a:t>
            </a:r>
          </a:p>
          <a:p>
            <a:r>
              <a:rPr lang="en-US"/>
              <a:t>Screening ≠ diagnosis; trauma-informed phased assessment</a:t>
            </a:r>
          </a:p>
        </p:txBody>
      </p:sp>
    </p:spTree>
    <p:extLst>
      <p:ext uri="{BB962C8B-B14F-4D97-AF65-F5344CB8AC3E}">
        <p14:creationId xmlns:p14="http://schemas.microsoft.com/office/powerpoint/2010/main" val="4749272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123EB-3AFA-BD9A-BEE8-CE71ABBCD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Session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75F42-34FF-E494-E1D4-48824CB5F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Title: Transference, countertransference, and risk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Aim: Read relational dynamics and risk in simulated assessment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Time: 15–20 minutes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Groups: scenarios — transference, countertransference, risk; brief debrief</a:t>
            </a:r>
          </a:p>
        </p:txBody>
      </p:sp>
    </p:spTree>
    <p:extLst>
      <p:ext uri="{BB962C8B-B14F-4D97-AF65-F5344CB8AC3E}">
        <p14:creationId xmlns:p14="http://schemas.microsoft.com/office/powerpoint/2010/main" val="30889178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3C22-E2F3-54C9-A595-764C54CA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Day 2 — Sunday Afternoon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AAF22-3D30-C57D-17AB-B2AE7F91F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14:00–17:00 | Psychopathology, formulation</a:t>
            </a:r>
          </a:p>
        </p:txBody>
      </p:sp>
    </p:spTree>
    <p:extLst>
      <p:ext uri="{BB962C8B-B14F-4D97-AF65-F5344CB8AC3E}">
        <p14:creationId xmlns:p14="http://schemas.microsoft.com/office/powerpoint/2010/main" val="748930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BF8D-C36F-C4A1-7370-950A4C3E9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0"/>
            <a:ext cx="11352212" cy="126385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Understanding mild to moderate psychological disturbances</a:t>
            </a:r>
            <a:br>
              <a:rPr lang="en-US" sz="36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US" sz="36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4100" name="Picture 4" descr="Pulsenotes | Depression notes">
            <a:extLst>
              <a:ext uri="{FF2B5EF4-FFF2-40B4-BE49-F238E27FC236}">
                <a16:creationId xmlns:a16="http://schemas.microsoft.com/office/drawing/2014/main" id="{090B4D76-CA44-B3E5-B3A3-CEEF012C0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207" y="1079188"/>
            <a:ext cx="8423420" cy="5778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50666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F77CC-6F39-FDAE-4532-8F6402E1E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Neurosis, psychosis, and spiritual emergency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8E0AA-6599-3CC0-3680-43AF237B6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Neurosis: conflict; generally intact reality testing</a:t>
            </a:r>
          </a:p>
          <a:p>
            <a:r>
              <a:rPr lang="en-US"/>
              <a:t>Psychosis: impaired reality testing; disorganisation</a:t>
            </a:r>
          </a:p>
          <a:p>
            <a:r>
              <a:rPr lang="en-US"/>
              <a:t>Spiritual emergency: assess for psychosis/risk — do not romanticise</a:t>
            </a:r>
          </a:p>
          <a:p>
            <a:r>
              <a:rPr lang="en-US"/>
              <a:t>When unsure: supervision, psychiatric opinion, safety first</a:t>
            </a:r>
          </a:p>
        </p:txBody>
      </p:sp>
    </p:spTree>
    <p:extLst>
      <p:ext uri="{BB962C8B-B14F-4D97-AF65-F5344CB8AC3E}">
        <p14:creationId xmlns:p14="http://schemas.microsoft.com/office/powerpoint/2010/main" val="4041450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7FDC1-2B90-05D8-4901-0E79B435A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Lower, middle, and higher unconscious in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901B3-B061-915B-F18A-8FDE9ED53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Lower: survival, trauma, defences</a:t>
            </a:r>
          </a:p>
          <a:p>
            <a:r>
              <a:rPr lang="en-US"/>
              <a:t>Middle: everyday personality and roles</a:t>
            </a:r>
          </a:p>
          <a:p>
            <a:r>
              <a:rPr lang="en-US"/>
              <a:t>Higher: meaning, values, aspiration</a:t>
            </a:r>
          </a:p>
          <a:p>
            <a:r>
              <a:rPr lang="en-US"/>
              <a:t>Listen across levels — not only pathology</a:t>
            </a:r>
          </a:p>
        </p:txBody>
      </p:sp>
    </p:spTree>
    <p:extLst>
      <p:ext uri="{BB962C8B-B14F-4D97-AF65-F5344CB8AC3E}">
        <p14:creationId xmlns:p14="http://schemas.microsoft.com/office/powerpoint/2010/main" val="1091442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DFE9C-877E-A31D-3E20-D2AB67E1B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Personality disorders — trainee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99CC1-2081-3700-D68C-3A680DF69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Enduring relational patterns — significant distress</a:t>
            </a:r>
          </a:p>
          <a:p>
            <a:r>
              <a:rPr lang="en-US"/>
              <a:t>Trainees recognise; specialists diagnose</a:t>
            </a:r>
          </a:p>
          <a:p>
            <a:r>
              <a:rPr lang="en-US"/>
              <a:t>Cluster B most seen in counselling settings</a:t>
            </a:r>
          </a:p>
          <a:p>
            <a:r>
              <a:rPr lang="en-US"/>
              <a:t>Describe behaviours — avoid labelling in session one</a:t>
            </a:r>
          </a:p>
        </p:txBody>
      </p:sp>
    </p:spTree>
    <p:extLst>
      <p:ext uri="{BB962C8B-B14F-4D97-AF65-F5344CB8AC3E}">
        <p14:creationId xmlns:p14="http://schemas.microsoft.com/office/powerpoint/2010/main" val="9476544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55C8A-A344-D166-220A-1D64DAE64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Borderline patterns — recognition (not diagnosis)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E49C2-41F6-6B09-F957-56940F3C9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Instability in relationships, affect; fear of abandonment</a:t>
            </a:r>
          </a:p>
          <a:p>
            <a:r>
              <a:rPr lang="en-US"/>
              <a:t>Self-harm, impulsivity, emptiness may appear</a:t>
            </a:r>
          </a:p>
          <a:p>
            <a:r>
              <a:rPr lang="en-US"/>
              <a:t>Assess risk; refer when beyond trainee scope</a:t>
            </a:r>
          </a:p>
        </p:txBody>
      </p:sp>
    </p:spTree>
    <p:extLst>
      <p:ext uri="{BB962C8B-B14F-4D97-AF65-F5344CB8AC3E}">
        <p14:creationId xmlns:p14="http://schemas.microsoft.com/office/powerpoint/2010/main" val="23267612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44E4-7F51-1D5B-0F6F-F434FC7A6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Narcissistic patterns — brief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ABC37-6D01-3440-0FBD-BA076D882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Grandiosity, admiration need, empathy difficulties at clinical threshold</a:t>
            </a:r>
          </a:p>
          <a:p>
            <a:r>
              <a:rPr lang="en-US"/>
              <a:t>Vulnerability may sit beneath defensive superiority</a:t>
            </a:r>
          </a:p>
          <a:p>
            <a:r>
              <a:rPr lang="en-US"/>
              <a:t>Maintain boundaries; supervise</a:t>
            </a:r>
          </a:p>
        </p:txBody>
      </p:sp>
    </p:spTree>
    <p:extLst>
      <p:ext uri="{BB962C8B-B14F-4D97-AF65-F5344CB8AC3E}">
        <p14:creationId xmlns:p14="http://schemas.microsoft.com/office/powerpoint/2010/main" val="27256120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97430-0CCB-D750-EB2F-D595FC8B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Writing session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EF98A-1CCF-D8BC-0A90-A30CFA367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Comprehensive, objective, confidential, accurate, timely</a:t>
            </a:r>
          </a:p>
          <a:p>
            <a:r>
              <a:rPr lang="en-US"/>
              <a:t>Document risk and referral actions clearly</a:t>
            </a:r>
          </a:p>
          <a:p>
            <a:r>
              <a:rPr lang="en-US"/>
              <a:t>Follow agency/IAPT templates where applicable</a:t>
            </a:r>
          </a:p>
        </p:txBody>
      </p:sp>
    </p:spTree>
    <p:extLst>
      <p:ext uri="{BB962C8B-B14F-4D97-AF65-F5344CB8AC3E}">
        <p14:creationId xmlns:p14="http://schemas.microsoft.com/office/powerpoint/2010/main" val="41720826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39D0F-25D8-3640-5062-2590D4392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ICD-11 / DSM-5 — brief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6D83B-F847-2645-45A9-B3F4D4538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ICD: WHO/international | DSM: US/research influence</a:t>
            </a:r>
          </a:p>
          <a:p>
            <a:r>
              <a:rPr lang="en-US"/>
              <a:t>Use labels to communicate — not replace formulation</a:t>
            </a:r>
          </a:p>
          <a:p>
            <a:r>
              <a:rPr lang="en-US"/>
              <a:t>Stay critical and client-centred</a:t>
            </a:r>
          </a:p>
        </p:txBody>
      </p:sp>
    </p:spTree>
    <p:extLst>
      <p:ext uri="{BB962C8B-B14F-4D97-AF65-F5344CB8AC3E}">
        <p14:creationId xmlns:p14="http://schemas.microsoft.com/office/powerpoint/2010/main" val="37381814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2ECB-E888-DB66-9896-9C3B8353B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Eating disorders — assessment essentials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996F-7429-8F38-3886-C0A082CA0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Clinical ED vs disordered eating — refer medical risk</a:t>
            </a:r>
          </a:p>
          <a:p>
            <a:r>
              <a:rPr lang="en-US"/>
              <a:t>Explore shame, control, trauma — not food alone</a:t>
            </a:r>
          </a:p>
          <a:p>
            <a:r>
              <a:rPr lang="en-US"/>
              <a:t>No weight comments or dietary advice</a:t>
            </a:r>
          </a:p>
        </p:txBody>
      </p:sp>
    </p:spTree>
    <p:extLst>
      <p:ext uri="{BB962C8B-B14F-4D97-AF65-F5344CB8AC3E}">
        <p14:creationId xmlns:p14="http://schemas.microsoft.com/office/powerpoint/2010/main" val="33639483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From hypothesis to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Initial assessment creates a working hypothesis, not a fixed truth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Review the formulation as new material, ruptures, and risks emerge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Adjust pace, strategy, and referral thinking over time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9A5B-2E06-2BA1-AEF7-6E1564D71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Hypothesising and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778C6-5856-455C-022A-C850E7CB7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Three lenses: intrapersonal, interpersonal, emergent potential</a:t>
            </a:r>
          </a:p>
          <a:p>
            <a:r>
              <a:rPr lang="en-US"/>
              <a:t>Hold working hypothesis lightly; revise with data</a:t>
            </a:r>
          </a:p>
        </p:txBody>
      </p:sp>
    </p:spTree>
    <p:extLst>
      <p:ext uri="{BB962C8B-B14F-4D97-AF65-F5344CB8AC3E}">
        <p14:creationId xmlns:p14="http://schemas.microsoft.com/office/powerpoint/2010/main" val="22775351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23D65-8131-ED19-CB32-E042B29D9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Psychosynthesis formulation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CBE81-0E87-A473-115F-18149C14F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History, context, power, trauma, culture</a:t>
            </a:r>
          </a:p>
          <a:p>
            <a:r>
              <a:rPr lang="en-US"/>
              <a:t>Wound, defences, subpersonalities / survival personality</a:t>
            </a:r>
          </a:p>
          <a:p>
            <a:r>
              <a:rPr lang="en-US"/>
              <a:t>Relational pattern; early transference signs</a:t>
            </a:r>
          </a:p>
          <a:p>
            <a:r>
              <a:rPr lang="en-US"/>
              <a:t>Will, resources, emerging direction; risk and plan</a:t>
            </a:r>
          </a:p>
        </p:txBody>
      </p:sp>
    </p:spTree>
    <p:extLst>
      <p:ext uri="{BB962C8B-B14F-4D97-AF65-F5344CB8AC3E}">
        <p14:creationId xmlns:p14="http://schemas.microsoft.com/office/powerpoint/2010/main" val="14716764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D1788-B714-88AF-47B6-327AE5F8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What makes an assessment psychosynthesis-informed?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D0877-0069-CC0A-AC64-7101A79DE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Pathology and potential held together</a:t>
            </a:r>
          </a:p>
          <a:p>
            <a:r>
              <a:rPr lang="en-US"/>
              <a:t>Disidentification, subpersonalities, will, meaning included</a:t>
            </a:r>
          </a:p>
          <a:p>
            <a:r>
              <a:rPr lang="en-US"/>
              <a:t>Standardised tools within wider formulation</a:t>
            </a:r>
          </a:p>
          <a:p>
            <a:r>
              <a:rPr lang="en-US"/>
              <a:t>Ethical scope, supervision, referral integrated</a:t>
            </a:r>
          </a:p>
        </p:txBody>
      </p:sp>
    </p:spTree>
    <p:extLst>
      <p:ext uri="{BB962C8B-B14F-4D97-AF65-F5344CB8AC3E}">
        <p14:creationId xmlns:p14="http://schemas.microsoft.com/office/powerpoint/2010/main" val="29318065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08783-0434-1645-F67D-B268E7064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Cognitive tools and negative automatic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0A5AA-CEA7-D4BE-ACF4-9A8A5E692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NATs reveal beliefs and defences in assessment</a:t>
            </a:r>
          </a:p>
          <a:p>
            <a:r>
              <a:rPr lang="en-US"/>
              <a:t>CBT tools complement — do not replace — psychosynthesis</a:t>
            </a:r>
          </a:p>
          <a:p>
            <a:r>
              <a:rPr lang="en-US"/>
              <a:t>Ask: which part holds this thought?</a:t>
            </a:r>
          </a:p>
        </p:txBody>
      </p:sp>
    </p:spTree>
    <p:extLst>
      <p:ext uri="{BB962C8B-B14F-4D97-AF65-F5344CB8AC3E}">
        <p14:creationId xmlns:p14="http://schemas.microsoft.com/office/powerpoint/2010/main" val="24809885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Psychosynthesis and other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DSM / ICD can support communication and referral, but do not replace formulation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CBT can clarify thoughts, beliefs, and maintaining cycles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PTM reframes distress through context, survival, and meaning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Psychosynthesis adds subpersonalities, will, meaning, and emergent potential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BC021-5154-34EA-11A1-D6CC0F607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Session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39487-748C-5E64-EDF4-8A63D60C4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Title: Integrated case formulation workshop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Aim: Psychosynthesis-informed formulation and assessment plan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Time: 35–45 minutes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Groups: Ellen or Kim; formulation map, risk, screening; 5-min presentation</a:t>
            </a:r>
          </a:p>
        </p:txBody>
      </p:sp>
    </p:spTree>
    <p:extLst>
      <p:ext uri="{BB962C8B-B14F-4D97-AF65-F5344CB8AC3E}">
        <p14:creationId xmlns:p14="http://schemas.microsoft.com/office/powerpoint/2010/main" val="10507940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ABCA1-1B8D-BB1E-6429-45485B523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Day 1 recap — key 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4642E-2314-CC14-8356-E95FC0411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PTM; suitability; intersectionality; screening tools</a:t>
            </a:r>
          </a:p>
          <a:p>
            <a:r>
              <a:rPr lang="en-US"/>
              <a:t>Online/in-person; suicide risk; defences; MSE</a:t>
            </a:r>
          </a:p>
          <a:p>
            <a:r>
              <a:rPr lang="en-US"/>
              <a:t>Psychosynthesis listening throughout</a:t>
            </a:r>
          </a:p>
        </p:txBody>
      </p:sp>
    </p:spTree>
    <p:extLst>
      <p:ext uri="{BB962C8B-B14F-4D97-AF65-F5344CB8AC3E}">
        <p14:creationId xmlns:p14="http://schemas.microsoft.com/office/powerpoint/2010/main" val="38790298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Research-informed assessment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Use evidence, clinical judgement, and client context together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Screening tools support practice but do not diagnose by themselves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Different methods answer different questions: quantitative, qualitative, case-based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Stay critical, ethical, and up to date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3A920-9053-4547-82A3-0921601BB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164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accent6"/>
                </a:solidFill>
              </a:rPr>
              <a:t>Reading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AE998-2075-4281-A6D3-EB1954757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30490"/>
            <a:ext cx="5181600" cy="5147732"/>
          </a:xfrm>
        </p:spPr>
        <p:txBody>
          <a:bodyPr>
            <a:normAutofit fontScale="25000" lnSpcReduction="20000"/>
          </a:bodyPr>
          <a:lstStyle/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GB" sz="4800" dirty="0" err="1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Gelso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, C.J. &amp; Hayes, J. (2007) </a:t>
            </a:r>
            <a:r>
              <a:rPr lang="en-GB" sz="4800" i="1" u="none" strike="noStrike" dirty="0">
                <a:effectLst/>
                <a:ea typeface="Times New Roman" panose="02020603050405020304" pitchFamily="18" charset="0"/>
                <a:cs typeface="Wingdings" panose="05000000000000000000" pitchFamily="2" charset="2"/>
                <a:hlinkClick r:id="rId3" tooltip="Countertransference &amp; the Therapist's Inner Experience: Perils and Possiblities"/>
              </a:rPr>
              <a:t>Countertransference &amp; the Therapist's Inner Experience: Perils and Possibilities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. 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New Jersey: Lawrence Erlbaum Associates, Inc.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GB" sz="4800" dirty="0" err="1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Kriesman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, J &amp; Strauss (1991) 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I Hate You – Don’t Leave Me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: 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Understanding the Borderline Personality. 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Avon.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Lemma, A. (1986) 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Introduction to Psychopathology. 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Sage.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Majors, R., Carberry, K. &amp; </a:t>
            </a:r>
            <a:r>
              <a:rPr lang="en-GB" sz="4800" dirty="0" err="1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Ranshaw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, T. (eds) (2020) 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The International Handbook of Black Community Mental Health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. Emerald Publishing Ltd.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Masterson, J.F. (1988) 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The Search for the Real Self. Unmasking Personality Disorders. 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Free Press.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GB" sz="4800" dirty="0" err="1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Mollon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, P. (2020) 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Pathologies of the Self: Exploring Narcissistic and Borderline States of Mind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. Confer Books.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Moore, T. (1994) 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Care of the Soul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. New York: </a:t>
            </a:r>
            <a:r>
              <a:rPr lang="en-GB" sz="4800" dirty="0" err="1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HarperPerennial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Nelson, J.E. (1991) 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Healing the Split: Madness or Transcendence? </a:t>
            </a:r>
            <a:r>
              <a:rPr lang="en-GB" sz="4800" dirty="0" err="1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Tarcher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van Rijn, B. (2015) 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Assessment and Case Formulation in Counselling and Psychotherapy. 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Sage.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Symington, N. (1993) 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Narcissism: A New Theory. </a:t>
            </a:r>
            <a:r>
              <a:rPr lang="en-GB" sz="4800" dirty="0" err="1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Karnac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 Books.</a:t>
            </a:r>
            <a:r>
              <a:rPr lang="en-GB" sz="4800" b="1" u="none" strike="noStrike" dirty="0">
                <a:effectLst/>
                <a:ea typeface="Times New Roman" panose="02020603050405020304" pitchFamily="18" charset="0"/>
              </a:rPr>
              <a:t> </a:t>
            </a:r>
            <a:endParaRPr lang="en-GB" sz="48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4800" dirty="0">
              <a:effectLst/>
              <a:ea typeface="Times New Roman" panose="02020603050405020304" pitchFamily="18" charset="0"/>
            </a:endParaRPr>
          </a:p>
          <a:p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21631-6235-44AC-9562-DEB57B1FC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11110"/>
            <a:ext cx="5181600" cy="5081763"/>
          </a:xfrm>
        </p:spPr>
        <p:txBody>
          <a:bodyPr>
            <a:normAutofit fontScale="25000" lnSpcReduction="20000"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>
                <a:ea typeface="Times New Roman" panose="02020603050405020304" pitchFamily="18" charset="0"/>
              </a:rPr>
              <a:t>American Psychiatric Association (2013) </a:t>
            </a:r>
            <a:r>
              <a:rPr lang="en-GB" sz="4800" i="1" dirty="0">
                <a:ea typeface="Times New Roman" panose="02020603050405020304" pitchFamily="18" charset="0"/>
              </a:rPr>
              <a:t>DSM-5: Diagnostical and Statistical Manual of Mental Disorders, 5</a:t>
            </a:r>
            <a:r>
              <a:rPr lang="en-GB" sz="4800" i="1" baseline="30000" dirty="0">
                <a:ea typeface="Times New Roman" panose="02020603050405020304" pitchFamily="18" charset="0"/>
              </a:rPr>
              <a:t>th</a:t>
            </a:r>
            <a:r>
              <a:rPr lang="en-GB" sz="4800" i="1" dirty="0">
                <a:ea typeface="Times New Roman" panose="02020603050405020304" pitchFamily="18" charset="0"/>
              </a:rPr>
              <a:t> edition. </a:t>
            </a:r>
            <a:r>
              <a:rPr lang="en-GB" sz="4800" dirty="0">
                <a:ea typeface="Times New Roman" panose="02020603050405020304" pitchFamily="18" charset="0"/>
              </a:rPr>
              <a:t>APA.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>
                <a:ea typeface="Times New Roman" panose="02020603050405020304" pitchFamily="18" charset="0"/>
              </a:rPr>
              <a:t>Bentall, R.P. (2003)</a:t>
            </a:r>
            <a:r>
              <a:rPr lang="en-GB" sz="4800" i="1" dirty="0">
                <a:ea typeface="Times New Roman" panose="02020603050405020304" pitchFamily="18" charset="0"/>
              </a:rPr>
              <a:t> Madness Explained. Psychosis &amp; Human Nature. </a:t>
            </a:r>
            <a:r>
              <a:rPr lang="en-GB" sz="4800" dirty="0">
                <a:ea typeface="Times New Roman" panose="02020603050405020304" pitchFamily="18" charset="0"/>
              </a:rPr>
              <a:t>Penguin Press.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 err="1">
                <a:ea typeface="Times New Roman" panose="02020603050405020304" pitchFamily="18" charset="0"/>
              </a:rPr>
              <a:t>Bollas</a:t>
            </a:r>
            <a:r>
              <a:rPr lang="en-GB" sz="4800" dirty="0">
                <a:ea typeface="Times New Roman" panose="02020603050405020304" pitchFamily="18" charset="0"/>
              </a:rPr>
              <a:t>, C. (1987) </a:t>
            </a:r>
            <a:r>
              <a:rPr lang="en-GB" sz="4800" i="1" dirty="0">
                <a:ea typeface="Times New Roman" panose="02020603050405020304" pitchFamily="18" charset="0"/>
              </a:rPr>
              <a:t>The Shadow of the Object: Psychoanalysis of the Unthought Known. </a:t>
            </a:r>
            <a:r>
              <a:rPr lang="en-GB" sz="4800" dirty="0">
                <a:ea typeface="Times New Roman" panose="02020603050405020304" pitchFamily="18" charset="0"/>
              </a:rPr>
              <a:t>Columbia University Press.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>
                <a:ea typeface="Times New Roman" panose="02020603050405020304" pitchFamily="18" charset="0"/>
              </a:rPr>
              <a:t>Burton, N. (2015) </a:t>
            </a:r>
            <a:r>
              <a:rPr lang="en-GB" sz="4800" i="1" dirty="0">
                <a:ea typeface="Times New Roman" panose="02020603050405020304" pitchFamily="18" charset="0"/>
              </a:rPr>
              <a:t>The Meaning of Madness. </a:t>
            </a:r>
            <a:r>
              <a:rPr lang="en-GB" sz="4800" dirty="0">
                <a:ea typeface="Times New Roman" panose="02020603050405020304" pitchFamily="18" charset="0"/>
              </a:rPr>
              <a:t>Acheron.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>
                <a:ea typeface="Times New Roman" panose="02020603050405020304" pitchFamily="18" charset="0"/>
              </a:rPr>
              <a:t>Casement, P.J. (1991) </a:t>
            </a:r>
            <a:r>
              <a:rPr lang="en-GB" sz="4800" i="1" dirty="0">
                <a:ea typeface="Times New Roman" panose="02020603050405020304" pitchFamily="18" charset="0"/>
              </a:rPr>
              <a:t>On Learning from the Patient. </a:t>
            </a:r>
            <a:r>
              <a:rPr lang="en-GB" sz="4800" dirty="0">
                <a:ea typeface="Times New Roman" panose="02020603050405020304" pitchFamily="18" charset="0"/>
              </a:rPr>
              <a:t>New York: Penguin Press.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>
                <a:ea typeface="Times New Roman" panose="02020603050405020304" pitchFamily="18" charset="0"/>
              </a:rPr>
              <a:t>Coltart, N. (1993) </a:t>
            </a:r>
            <a:r>
              <a:rPr lang="en-GB" sz="4800" i="1" dirty="0">
                <a:ea typeface="Times New Roman" panose="02020603050405020304" pitchFamily="18" charset="0"/>
              </a:rPr>
              <a:t>How to Survive as a Psychotherapist. </a:t>
            </a:r>
            <a:r>
              <a:rPr lang="en-GB" sz="4800" dirty="0">
                <a:ea typeface="Times New Roman" panose="02020603050405020304" pitchFamily="18" charset="0"/>
              </a:rPr>
              <a:t>Sheldon Press.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>
                <a:ea typeface="Times New Roman" panose="02020603050405020304" pitchFamily="18" charset="0"/>
              </a:rPr>
              <a:t>Davison, G. &amp; Neale, J. (1995) </a:t>
            </a:r>
            <a:r>
              <a:rPr lang="en-GB" sz="4800" i="1" dirty="0">
                <a:ea typeface="Times New Roman" panose="02020603050405020304" pitchFamily="18" charset="0"/>
              </a:rPr>
              <a:t>Abnormal Psychology. </a:t>
            </a:r>
            <a:r>
              <a:rPr lang="en-GB" sz="4800" dirty="0">
                <a:ea typeface="Times New Roman" panose="02020603050405020304" pitchFamily="18" charset="0"/>
              </a:rPr>
              <a:t>NY Wiley &amp; Sons.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>
                <a:ea typeface="Times New Roman" panose="02020603050405020304" pitchFamily="18" charset="0"/>
              </a:rPr>
              <a:t>Gomez, L. (1997) </a:t>
            </a:r>
            <a:r>
              <a:rPr lang="en-GB" sz="4800" i="1" dirty="0">
                <a:ea typeface="Times New Roman" panose="02020603050405020304" pitchFamily="18" charset="0"/>
              </a:rPr>
              <a:t>An Introduction to Object Relations</a:t>
            </a:r>
            <a:r>
              <a:rPr lang="en-GB" sz="4800" dirty="0">
                <a:ea typeface="Times New Roman" panose="02020603050405020304" pitchFamily="18" charset="0"/>
              </a:rPr>
              <a:t>. Free Association Books.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 err="1">
                <a:ea typeface="Times New Roman" panose="02020603050405020304" pitchFamily="18" charset="0"/>
              </a:rPr>
              <a:t>Grof</a:t>
            </a:r>
            <a:r>
              <a:rPr lang="en-GB" sz="4800" dirty="0">
                <a:ea typeface="Times New Roman" panose="02020603050405020304" pitchFamily="18" charset="0"/>
              </a:rPr>
              <a:t>, C. &amp; </a:t>
            </a:r>
            <a:r>
              <a:rPr lang="en-GB" sz="4800" dirty="0" err="1">
                <a:ea typeface="Times New Roman" panose="02020603050405020304" pitchFamily="18" charset="0"/>
              </a:rPr>
              <a:t>Grof</a:t>
            </a:r>
            <a:r>
              <a:rPr lang="en-GB" sz="4800" dirty="0">
                <a:ea typeface="Times New Roman" panose="02020603050405020304" pitchFamily="18" charset="0"/>
              </a:rPr>
              <a:t>, S. (1990) </a:t>
            </a:r>
            <a:r>
              <a:rPr lang="en-GB" sz="4800" i="1" dirty="0">
                <a:ea typeface="Times New Roman" panose="02020603050405020304" pitchFamily="18" charset="0"/>
              </a:rPr>
              <a:t>The Stormy Search for the Self: understanding and living with spiritual emergency. </a:t>
            </a:r>
            <a:r>
              <a:rPr lang="en-GB" sz="4800" dirty="0" err="1">
                <a:ea typeface="Times New Roman" panose="02020603050405020304" pitchFamily="18" charset="0"/>
              </a:rPr>
              <a:t>Tarcher</a:t>
            </a:r>
            <a:r>
              <a:rPr lang="en-GB" sz="4800" dirty="0"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>
                <a:ea typeface="Times New Roman" panose="02020603050405020304" pitchFamily="18" charset="0"/>
              </a:rPr>
              <a:t>Littlewood, R &amp; </a:t>
            </a:r>
            <a:r>
              <a:rPr lang="en-GB" sz="4800" dirty="0" err="1">
                <a:ea typeface="Times New Roman" panose="02020603050405020304" pitchFamily="18" charset="0"/>
              </a:rPr>
              <a:t>Lipsedge</a:t>
            </a:r>
            <a:r>
              <a:rPr lang="en-GB" sz="4800" dirty="0">
                <a:ea typeface="Times New Roman" panose="02020603050405020304" pitchFamily="18" charset="0"/>
              </a:rPr>
              <a:t>, M. (1997) </a:t>
            </a:r>
            <a:r>
              <a:rPr lang="en-GB" sz="4800" i="1" dirty="0">
                <a:ea typeface="Times New Roman" panose="02020603050405020304" pitchFamily="18" charset="0"/>
              </a:rPr>
              <a:t>Aliens &amp; Alienists. Ethnic Minorities &amp; Psychiatry. </a:t>
            </a:r>
            <a:r>
              <a:rPr lang="en-GB" sz="4800" dirty="0">
                <a:ea typeface="Times New Roman" panose="02020603050405020304" pitchFamily="18" charset="0"/>
              </a:rPr>
              <a:t>Routledge.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>
                <a:ea typeface="Times New Roman" panose="02020603050405020304" pitchFamily="18" charset="0"/>
              </a:rPr>
              <a:t>Ogden, Thomas H. (2005) </a:t>
            </a:r>
            <a:r>
              <a:rPr lang="en-GB" sz="4800" i="1" dirty="0">
                <a:ea typeface="Times New Roman" panose="02020603050405020304" pitchFamily="18" charset="0"/>
              </a:rPr>
              <a:t>Projective Identification &amp; Psychotherapeutic Technique</a:t>
            </a:r>
            <a:r>
              <a:rPr lang="en-GB" sz="4800" dirty="0">
                <a:ea typeface="Times New Roman" panose="02020603050405020304" pitchFamily="18" charset="0"/>
              </a:rPr>
              <a:t>. New Jersey: </a:t>
            </a:r>
            <a:r>
              <a:rPr lang="en-GB" sz="4800" dirty="0" err="1">
                <a:ea typeface="Times New Roman" panose="02020603050405020304" pitchFamily="18" charset="0"/>
              </a:rPr>
              <a:t>Karnac</a:t>
            </a:r>
            <a:endParaRPr lang="en-GB" sz="4800" dirty="0"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>
                <a:ea typeface="Times New Roman" panose="02020603050405020304" pitchFamily="18" charset="0"/>
              </a:rPr>
              <a:t>Wolpert, L. (1999) </a:t>
            </a:r>
            <a:r>
              <a:rPr lang="en-GB" sz="4800" i="1" dirty="0">
                <a:ea typeface="Times New Roman" panose="02020603050405020304" pitchFamily="18" charset="0"/>
              </a:rPr>
              <a:t>Malignant Sadness. The Anatomy of Depression</a:t>
            </a:r>
            <a:r>
              <a:rPr lang="en-GB" sz="4800" dirty="0">
                <a:ea typeface="Times New Roman" panose="02020603050405020304" pitchFamily="18" charset="0"/>
              </a:rPr>
              <a:t>. Faber.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96417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Exercise Instructions (Retained from Earlier Drafts)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Full original instructions for all session exercises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See speaker notes for complete facilitator detail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6CD0D6E-84AC-4A76-8EEB-4607F739A91A}">
  <we:reference id="wa200005669" version="2.0.0.0" store="en-GB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A94D02-9B44-414A-80CB-48DB080080D6}">
  <ds:schemaRefs>
    <ds:schemaRef ds:uri="http://schemas.microsoft.com/office/2006/metadata/properties"/>
    <ds:schemaRef ds:uri="http://schemas.microsoft.com/office/infopath/2007/PartnerControls"/>
    <ds:schemaRef ds:uri="a1fa2a2e-ccb8-4b97-81d1-52fad927bd6d"/>
    <ds:schemaRef ds:uri="6904e643-86ad-4f5e-a7f4-4b2e1f854ed1"/>
  </ds:schemaRefs>
</ds:datastoreItem>
</file>

<file path=customXml/itemProps3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1598</TotalTime>
  <Words>4605</Words>
  <Application>Microsoft Office PowerPoint</Application>
  <PresentationFormat>Widescreen</PresentationFormat>
  <Paragraphs>568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2" baseType="lpstr">
      <vt:lpstr>Arial</vt:lpstr>
      <vt:lpstr>Arial Black</vt:lpstr>
      <vt:lpstr>Arial Narrow</vt:lpstr>
      <vt:lpstr>Calibri</vt:lpstr>
      <vt:lpstr>Calibri Light</vt:lpstr>
      <vt:lpstr>Century Gothic</vt:lpstr>
      <vt:lpstr>Courier New</vt:lpstr>
      <vt:lpstr>Google Sans</vt:lpstr>
      <vt:lpstr>Symbol</vt:lpstr>
      <vt:lpstr>Times New Roman</vt:lpstr>
      <vt:lpstr>Wingdings</vt:lpstr>
      <vt:lpstr>Office Theme</vt:lpstr>
      <vt:lpstr>Psychological Disorders and their Assessment</vt:lpstr>
      <vt:lpstr>Day 1 — Saturday Morning</vt:lpstr>
      <vt:lpstr>Learning aims</vt:lpstr>
      <vt:lpstr>Workshop schedule — 2 days</vt:lpstr>
      <vt:lpstr>Assessing the individual, ourselves and society</vt:lpstr>
      <vt:lpstr>PowerPoint Presentation</vt:lpstr>
      <vt:lpstr>Power–Threat–Meaning Framework</vt:lpstr>
      <vt:lpstr>Psychological Mindedness</vt:lpstr>
      <vt:lpstr>Disidentification as an assessment lens</vt:lpstr>
      <vt:lpstr>Observing self / "I"</vt:lpstr>
      <vt:lpstr>Psychosynthesis egg diagram as an assessment map</vt:lpstr>
      <vt:lpstr>Psychosynthesis assessment questions</vt:lpstr>
      <vt:lpstr>Subpersonalities in assessment</vt:lpstr>
      <vt:lpstr>Psychosynthesis capacities for therapy</vt:lpstr>
      <vt:lpstr>Love and will in assessment</vt:lpstr>
      <vt:lpstr>Case study: Chen — PTM application</vt:lpstr>
      <vt:lpstr>Indicators of client suitability</vt:lpstr>
      <vt:lpstr>Higher concern / referral indicators</vt:lpstr>
      <vt:lpstr>Intersectionality in assessment</vt:lpstr>
      <vt:lpstr>Family systems and hidden dynamics</vt:lpstr>
      <vt:lpstr>Initial screening tools — role and limits</vt:lpstr>
      <vt:lpstr>CORE-OM</vt:lpstr>
      <vt:lpstr>CORE-10 — what it measures</vt:lpstr>
      <vt:lpstr>PHQ-9 — depression screening</vt:lpstr>
      <vt:lpstr>GAD-7 — anxiety screening (brief)</vt:lpstr>
      <vt:lpstr>Session Exercise</vt:lpstr>
      <vt:lpstr>Day 1 — Saturday Afternoon</vt:lpstr>
      <vt:lpstr>Online vs in-person assessment</vt:lpstr>
      <vt:lpstr>Assessing for suicide and self-harm</vt:lpstr>
      <vt:lpstr>Defense mechanisms</vt:lpstr>
      <vt:lpstr>Defence mechanisms 1–5 (summary)</vt:lpstr>
      <vt:lpstr>Defence mechanisms 6–10 (summary)</vt:lpstr>
      <vt:lpstr>Mental status exam — nine domains</vt:lpstr>
      <vt:lpstr>MSE in practice</vt:lpstr>
      <vt:lpstr>Psychosynthesis assessment domains</vt:lpstr>
      <vt:lpstr>Session Exercise</vt:lpstr>
      <vt:lpstr>Psychological Disorders and their Assessment</vt:lpstr>
      <vt:lpstr>Day 2 — Sunday Morning</vt:lpstr>
      <vt:lpstr>Opening reflection</vt:lpstr>
      <vt:lpstr>Brief reflection (optional)</vt:lpstr>
      <vt:lpstr> transference     </vt:lpstr>
      <vt:lpstr> counter-transference</vt:lpstr>
      <vt:lpstr>Transferential field — brief</vt:lpstr>
      <vt:lpstr>Dissociation in the transferential field</vt:lpstr>
      <vt:lpstr>Risk Assessment</vt:lpstr>
      <vt:lpstr>What questions do I ask?</vt:lpstr>
      <vt:lpstr>Self-harm vs suicidality</vt:lpstr>
      <vt:lpstr>Dissociation — screening and specialist assessment</vt:lpstr>
      <vt:lpstr>Session Exercise</vt:lpstr>
      <vt:lpstr>Day 2 — Sunday Afternoon</vt:lpstr>
      <vt:lpstr>Understanding mild to moderate psychological disturbances </vt:lpstr>
      <vt:lpstr>Neurosis, psychosis, and spiritual emergency</vt:lpstr>
      <vt:lpstr>Lower, middle, and higher unconscious in assessment</vt:lpstr>
      <vt:lpstr>Personality disorders — trainee overview</vt:lpstr>
      <vt:lpstr>Borderline patterns — recognition (not diagnosis)</vt:lpstr>
      <vt:lpstr>Narcissistic patterns — brief recognition</vt:lpstr>
      <vt:lpstr>Writing session notes</vt:lpstr>
      <vt:lpstr>ICD-11 / DSM-5 — brief comparison</vt:lpstr>
      <vt:lpstr>Eating disorders — assessment essentials</vt:lpstr>
      <vt:lpstr>From hypothesis to review</vt:lpstr>
      <vt:lpstr>Hypothesising and formulation</vt:lpstr>
      <vt:lpstr>Psychosynthesis formulation map</vt:lpstr>
      <vt:lpstr>What makes an assessment psychosynthesis-informed?</vt:lpstr>
      <vt:lpstr>Cognitive tools and negative automatic thoughts</vt:lpstr>
      <vt:lpstr>Psychosynthesis and other models</vt:lpstr>
      <vt:lpstr>Session Exercise</vt:lpstr>
      <vt:lpstr>Day 1 recap — key threads</vt:lpstr>
      <vt:lpstr>Research-informed assessment practice</vt:lpstr>
      <vt:lpstr>Reading List</vt:lpstr>
      <vt:lpstr>Exercise Instructions (Retained from Earlier Drafts)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Michael Bryant</cp:lastModifiedBy>
  <cp:revision>32</cp:revision>
  <dcterms:created xsi:type="dcterms:W3CDTF">2020-02-24T12:13:07Z</dcterms:created>
  <dcterms:modified xsi:type="dcterms:W3CDTF">2026-06-11T21:47:54Z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